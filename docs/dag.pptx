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B66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28"/>
    <p:restoredTop sz="94654"/>
  </p:normalViewPr>
  <p:slideViewPr>
    <p:cSldViewPr snapToGrid="0">
      <p:cViewPr>
        <p:scale>
          <a:sx n="157" d="100"/>
          <a:sy n="157" d="100"/>
        </p:scale>
        <p:origin x="1976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16561-7427-B747-8AFE-546ED547BA0F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B33F5-3B38-2E49-A597-94BB5C202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109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16561-7427-B747-8AFE-546ED547BA0F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B33F5-3B38-2E49-A597-94BB5C202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156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16561-7427-B747-8AFE-546ED547BA0F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B33F5-3B38-2E49-A597-94BB5C202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022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16561-7427-B747-8AFE-546ED547BA0F}" type="datetimeFigureOut">
              <a:rPr lang="en-US" smtClean="0"/>
              <a:t>4/29/26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B33F5-3B38-2E49-A597-94BB5C202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871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5"/>
            <a:ext cx="591502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16561-7427-B747-8AFE-546ED547BA0F}" type="datetimeFigureOut">
              <a:rPr lang="en-US" smtClean="0"/>
              <a:t>4/29/26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B33F5-3B38-2E49-A597-94BB5C202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681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16561-7427-B747-8AFE-546ED547BA0F}" type="datetimeFigureOut">
              <a:rPr lang="en-US" smtClean="0"/>
              <a:t>4/29/26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B33F5-3B38-2E49-A597-94BB5C202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169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16561-7427-B747-8AFE-546ED547BA0F}" type="datetimeFigureOut">
              <a:rPr lang="en-US" smtClean="0"/>
              <a:t>4/29/26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B33F5-3B38-2E49-A597-94BB5C202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318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8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16561-7427-B747-8AFE-546ED547BA0F}" type="datetimeFigureOut">
              <a:rPr lang="en-US" smtClean="0"/>
              <a:t>4/29/26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B33F5-3B38-2E49-A597-94BB5C202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277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8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16561-7427-B747-8AFE-546ED547BA0F}" type="datetimeFigureOut">
              <a:rPr lang="en-US" smtClean="0"/>
              <a:t>4/29/26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B33F5-3B38-2E49-A597-94BB5C202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600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16561-7427-B747-8AFE-546ED547BA0F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B33F5-3B38-2E49-A597-94BB5C202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67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3"/>
            <a:ext cx="1478756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3"/>
            <a:ext cx="4350544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16561-7427-B747-8AFE-546ED547BA0F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B33F5-3B38-2E49-A597-94BB5C202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050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5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716561-7427-B747-8AFE-546ED547BA0F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BB33F5-3B38-2E49-A597-94BB5C202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124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6F72B3D-5B4E-8947-63BA-0A0305C1CB7B}"/>
              </a:ext>
            </a:extLst>
          </p:cNvPr>
          <p:cNvSpPr/>
          <p:nvPr/>
        </p:nvSpPr>
        <p:spPr>
          <a:xfrm>
            <a:off x="2331932" y="242371"/>
            <a:ext cx="1401081" cy="554005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tIns="9144" rIns="9144" bIns="9144" rtlCol="0" anchor="ctr"/>
          <a:lstStyle/>
          <a:p>
            <a:pPr algn="ctr"/>
            <a:r>
              <a:rPr lang="en-US" sz="1400" b="1" dirty="0">
                <a:latin typeface="Avenir Next Condensed Demi Bold" panose="020B0506020202020204" pitchFamily="34" charset="0"/>
              </a:rPr>
              <a:t>ecDNA_EGFR</a:t>
            </a:r>
          </a:p>
          <a:p>
            <a:pPr algn="ctr"/>
            <a:r>
              <a:rPr lang="en-US" sz="1100" dirty="0">
                <a:latin typeface="Avenir Next Condensed" panose="020B0506020202020204" pitchFamily="34" charset="0"/>
              </a:rPr>
              <a:t>Instrument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FDD7D95-ABAF-C131-85B9-E4B005D88EE7}"/>
              </a:ext>
            </a:extLst>
          </p:cNvPr>
          <p:cNvSpPr/>
          <p:nvPr/>
        </p:nvSpPr>
        <p:spPr>
          <a:xfrm>
            <a:off x="2331932" y="1296640"/>
            <a:ext cx="1401081" cy="554004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tIns="9144" rIns="9144" bIns="9144" rtlCol="0" anchor="ctr"/>
          <a:lstStyle/>
          <a:p>
            <a:pPr algn="ctr"/>
            <a:r>
              <a:rPr lang="en-US" sz="1400" b="1" dirty="0">
                <a:latin typeface="Avenir Next Condensed Demi Bold" panose="020B0506020202020204" pitchFamily="34" charset="0"/>
              </a:rPr>
              <a:t>EGFR_expression</a:t>
            </a:r>
          </a:p>
          <a:p>
            <a:pPr algn="ctr"/>
            <a:r>
              <a:rPr lang="en-US" sz="1100" dirty="0">
                <a:latin typeface="Avenir Next Condensed" panose="020B0506020202020204" pitchFamily="34" charset="0"/>
              </a:rPr>
              <a:t>Instrument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B948529-F3BD-9212-2EF6-F775B2E83129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3032473" y="796376"/>
            <a:ext cx="0" cy="50026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8AF96C8-B474-CAFF-F386-0D7AD4CF5E21}"/>
              </a:ext>
            </a:extLst>
          </p:cNvPr>
          <p:cNvSpPr txBox="1"/>
          <p:nvPr/>
        </p:nvSpPr>
        <p:spPr>
          <a:xfrm>
            <a:off x="3079787" y="851724"/>
            <a:ext cx="282632" cy="233910"/>
          </a:xfrm>
          <a:prstGeom prst="rect">
            <a:avLst/>
          </a:prstGeom>
          <a:solidFill>
            <a:schemeClr val="bg1"/>
          </a:solidFill>
        </p:spPr>
        <p:txBody>
          <a:bodyPr wrap="square" lIns="9144" tIns="9144" rIns="9144" bIns="9144" rtlCol="0">
            <a:spAutoFit/>
          </a:bodyPr>
          <a:lstStyle/>
          <a:p>
            <a:r>
              <a:rPr lang="en-US" sz="1400" dirty="0"/>
              <a:t>+</a:t>
            </a:r>
            <a:r>
              <a:rPr lang="en-US" sz="1400" dirty="0">
                <a:latin typeface="Symbol" pitchFamily="2" charset="2"/>
              </a:rPr>
              <a:t>k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F37B9DF-DC37-7D63-323B-2CCA8B8A15BB}"/>
              </a:ext>
            </a:extLst>
          </p:cNvPr>
          <p:cNvSpPr/>
          <p:nvPr/>
        </p:nvSpPr>
        <p:spPr>
          <a:xfrm>
            <a:off x="1433128" y="2134163"/>
            <a:ext cx="1401081" cy="554004"/>
          </a:xfrm>
          <a:prstGeom prst="roundRect">
            <a:avLst/>
          </a:prstGeom>
          <a:solidFill>
            <a:srgbClr val="AB666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tIns="9144" rIns="9144" bIns="9144" rtlCol="0" anchor="ctr"/>
          <a:lstStyle/>
          <a:p>
            <a:pPr algn="ctr"/>
            <a:r>
              <a:rPr lang="en-US" sz="1400" b="1" dirty="0">
                <a:latin typeface="Avenir Next Condensed Demi Bold" panose="020B0506020202020204" pitchFamily="34" charset="0"/>
              </a:rPr>
              <a:t>Survival</a:t>
            </a:r>
          </a:p>
          <a:p>
            <a:pPr algn="ctr"/>
            <a:r>
              <a:rPr lang="en-US" sz="1100" dirty="0">
                <a:latin typeface="Avenir Next Condensed" panose="020B0506020202020204" pitchFamily="34" charset="0"/>
              </a:rPr>
              <a:t>Mediator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90B379B6-72BD-16EB-9EE7-3CE71DBD2771}"/>
              </a:ext>
            </a:extLst>
          </p:cNvPr>
          <p:cNvSpPr/>
          <p:nvPr/>
        </p:nvSpPr>
        <p:spPr>
          <a:xfrm>
            <a:off x="3429000" y="2168778"/>
            <a:ext cx="1401081" cy="554004"/>
          </a:xfrm>
          <a:prstGeom prst="roundRect">
            <a:avLst/>
          </a:prstGeom>
          <a:solidFill>
            <a:srgbClr val="AB666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tIns="9144" rIns="9144" bIns="9144" rtlCol="0" anchor="ctr"/>
          <a:lstStyle/>
          <a:p>
            <a:pPr algn="ctr"/>
            <a:r>
              <a:rPr lang="en-US" sz="1400" b="1" dirty="0">
                <a:latin typeface="Avenir Next Condensed Demi Bold" panose="020B0506020202020204" pitchFamily="34" charset="0"/>
              </a:rPr>
              <a:t>Proliferation</a:t>
            </a:r>
          </a:p>
          <a:p>
            <a:pPr algn="ctr"/>
            <a:r>
              <a:rPr lang="en-US" sz="1100" dirty="0">
                <a:latin typeface="Avenir Next Condensed" panose="020B0506020202020204" pitchFamily="34" charset="0"/>
              </a:rPr>
              <a:t>Mediator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747343C9-E2E8-4400-3C66-7B0ECB35890D}"/>
              </a:ext>
            </a:extLst>
          </p:cNvPr>
          <p:cNvSpPr/>
          <p:nvPr/>
        </p:nvSpPr>
        <p:spPr>
          <a:xfrm>
            <a:off x="3425917" y="3146337"/>
            <a:ext cx="1401081" cy="554004"/>
          </a:xfrm>
          <a:prstGeom prst="roundRect">
            <a:avLst/>
          </a:prstGeom>
          <a:solidFill>
            <a:srgbClr val="AB666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tIns="9144" rIns="9144" bIns="9144" rtlCol="0" anchor="ctr"/>
          <a:lstStyle/>
          <a:p>
            <a:pPr algn="ctr"/>
            <a:r>
              <a:rPr lang="en-US" sz="1400" b="1" dirty="0">
                <a:latin typeface="Avenir Next Condensed Demi Bold" panose="020B0506020202020204" pitchFamily="34" charset="0"/>
              </a:rPr>
              <a:t>O2_local</a:t>
            </a:r>
          </a:p>
          <a:p>
            <a:pPr algn="ctr"/>
            <a:r>
              <a:rPr lang="en-US" sz="1100" dirty="0">
                <a:latin typeface="Avenir Next Condensed" panose="020B0506020202020204" pitchFamily="34" charset="0"/>
              </a:rPr>
              <a:t>Confounder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61982BF-169D-9BF9-8881-C6ED769FDFFD}"/>
              </a:ext>
            </a:extLst>
          </p:cNvPr>
          <p:cNvSpPr/>
          <p:nvPr/>
        </p:nvSpPr>
        <p:spPr>
          <a:xfrm>
            <a:off x="1631391" y="3763032"/>
            <a:ext cx="1401081" cy="554004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tIns="9144" rIns="9144" bIns="9144" rtlCol="0" anchor="ctr"/>
          <a:lstStyle/>
          <a:p>
            <a:pPr algn="ctr"/>
            <a:r>
              <a:rPr lang="en-US" sz="1400" b="1" dirty="0">
                <a:latin typeface="Avenir Next Condensed Demi Bold" panose="020B0506020202020204" pitchFamily="34" charset="0"/>
              </a:rPr>
              <a:t>Hypoxia</a:t>
            </a:r>
          </a:p>
          <a:p>
            <a:pPr algn="ctr"/>
            <a:r>
              <a:rPr lang="en-US" sz="1100" dirty="0">
                <a:latin typeface="Avenir Next Condensed" panose="020B0506020202020204" pitchFamily="34" charset="0"/>
              </a:rPr>
              <a:t>Confounder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418072C7-7566-5CA0-146C-FA54C0952D86}"/>
              </a:ext>
            </a:extLst>
          </p:cNvPr>
          <p:cNvSpPr/>
          <p:nvPr/>
        </p:nvSpPr>
        <p:spPr>
          <a:xfrm>
            <a:off x="5033550" y="4691816"/>
            <a:ext cx="1401081" cy="554004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tIns="9144" rIns="9144" bIns="9144" rtlCol="0" anchor="ctr"/>
          <a:lstStyle/>
          <a:p>
            <a:pPr algn="ctr"/>
            <a:r>
              <a:rPr lang="en-US" sz="1400" b="1" dirty="0">
                <a:latin typeface="Avenir Next Condensed Demi Bold" panose="020B0506020202020204" pitchFamily="34" charset="0"/>
              </a:rPr>
              <a:t>VEGF</a:t>
            </a:r>
          </a:p>
          <a:p>
            <a:pPr algn="ctr"/>
            <a:r>
              <a:rPr lang="en-US" sz="1100" dirty="0">
                <a:latin typeface="Avenir Next Condensed" panose="020B0506020202020204" pitchFamily="34" charset="0"/>
              </a:rPr>
              <a:t>Confounder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776AE94-8D5F-58A7-4166-F3DBCF4CAE38}"/>
              </a:ext>
            </a:extLst>
          </p:cNvPr>
          <p:cNvSpPr/>
          <p:nvPr/>
        </p:nvSpPr>
        <p:spPr>
          <a:xfrm>
            <a:off x="3425918" y="4137811"/>
            <a:ext cx="1401081" cy="554004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tIns="9144" rIns="9144" bIns="9144" rtlCol="0" anchor="ctr"/>
          <a:lstStyle/>
          <a:p>
            <a:pPr algn="ctr"/>
            <a:r>
              <a:rPr lang="en-US" sz="1400" b="1" dirty="0">
                <a:latin typeface="Avenir Next Condensed Demi Bold" panose="020B0506020202020204" pitchFamily="34" charset="0"/>
              </a:rPr>
              <a:t>Vasculature</a:t>
            </a:r>
          </a:p>
          <a:p>
            <a:pPr algn="ctr"/>
            <a:r>
              <a:rPr lang="en-US" sz="1100" dirty="0">
                <a:latin typeface="Avenir Next Condensed" panose="020B0506020202020204" pitchFamily="34" charset="0"/>
              </a:rPr>
              <a:t>Confounder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37C5A457-5A60-545E-190D-760DE75401A0}"/>
              </a:ext>
            </a:extLst>
          </p:cNvPr>
          <p:cNvSpPr/>
          <p:nvPr/>
        </p:nvSpPr>
        <p:spPr>
          <a:xfrm>
            <a:off x="413844" y="3103670"/>
            <a:ext cx="1401081" cy="554004"/>
          </a:xfrm>
          <a:prstGeom prst="roundRect">
            <a:avLst/>
          </a:prstGeom>
          <a:solidFill>
            <a:srgbClr val="AB666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tIns="9144" rIns="9144" bIns="9144" rtlCol="0" anchor="ctr"/>
          <a:lstStyle/>
          <a:p>
            <a:pPr algn="ctr"/>
            <a:r>
              <a:rPr lang="en-US" sz="1400" b="1" dirty="0">
                <a:latin typeface="Avenir Next Condensed Demi Bold" panose="020B0506020202020204" pitchFamily="34" charset="0"/>
              </a:rPr>
              <a:t>Migration</a:t>
            </a:r>
          </a:p>
          <a:p>
            <a:pPr algn="ctr"/>
            <a:r>
              <a:rPr lang="en-US" sz="1100" dirty="0">
                <a:latin typeface="Avenir Next Condensed" panose="020B0506020202020204" pitchFamily="34" charset="0"/>
              </a:rPr>
              <a:t>Mediator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2846563-D7A6-CE4D-CEE4-D0964D18B43B}"/>
              </a:ext>
            </a:extLst>
          </p:cNvPr>
          <p:cNvCxnSpPr>
            <a:cxnSpLocks/>
            <a:stCxn id="5" idx="2"/>
            <a:endCxn id="14" idx="0"/>
          </p:cNvCxnSpPr>
          <p:nvPr/>
        </p:nvCxnSpPr>
        <p:spPr>
          <a:xfrm rot="5400000">
            <a:off x="2441312" y="1543001"/>
            <a:ext cx="283519" cy="898804"/>
          </a:xfrm>
          <a:prstGeom prst="curved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1">
            <a:extLst>
              <a:ext uri="{FF2B5EF4-FFF2-40B4-BE49-F238E27FC236}">
                <a16:creationId xmlns:a16="http://schemas.microsoft.com/office/drawing/2014/main" id="{7C02AC39-3B6D-3F8D-B002-C63B474AF8BD}"/>
              </a:ext>
            </a:extLst>
          </p:cNvPr>
          <p:cNvCxnSpPr>
            <a:cxnSpLocks/>
            <a:stCxn id="5" idx="2"/>
            <a:endCxn id="15" idx="0"/>
          </p:cNvCxnSpPr>
          <p:nvPr/>
        </p:nvCxnSpPr>
        <p:spPr>
          <a:xfrm rot="16200000" flipH="1">
            <a:off x="3421940" y="1461177"/>
            <a:ext cx="318134" cy="1097068"/>
          </a:xfrm>
          <a:prstGeom prst="curved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1">
            <a:extLst>
              <a:ext uri="{FF2B5EF4-FFF2-40B4-BE49-F238E27FC236}">
                <a16:creationId xmlns:a16="http://schemas.microsoft.com/office/drawing/2014/main" id="{BFC7DF93-4D41-71DC-B755-C934AC20260B}"/>
              </a:ext>
            </a:extLst>
          </p:cNvPr>
          <p:cNvCxnSpPr>
            <a:cxnSpLocks/>
            <a:stCxn id="15" idx="2"/>
            <a:endCxn id="16" idx="0"/>
          </p:cNvCxnSpPr>
          <p:nvPr/>
        </p:nvCxnSpPr>
        <p:spPr>
          <a:xfrm rot="5400000">
            <a:off x="3916223" y="2933018"/>
            <a:ext cx="423555" cy="3083"/>
          </a:xfrm>
          <a:prstGeom prst="curved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21">
            <a:extLst>
              <a:ext uri="{FF2B5EF4-FFF2-40B4-BE49-F238E27FC236}">
                <a16:creationId xmlns:a16="http://schemas.microsoft.com/office/drawing/2014/main" id="{BC7EE0B5-1411-B829-2422-39A4CB1D5290}"/>
              </a:ext>
            </a:extLst>
          </p:cNvPr>
          <p:cNvCxnSpPr>
            <a:cxnSpLocks/>
            <a:stCxn id="5" idx="3"/>
            <a:endCxn id="18" idx="0"/>
          </p:cNvCxnSpPr>
          <p:nvPr/>
        </p:nvCxnSpPr>
        <p:spPr>
          <a:xfrm>
            <a:off x="3733013" y="1573642"/>
            <a:ext cx="2001078" cy="3118174"/>
          </a:xfrm>
          <a:prstGeom prst="curved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21">
            <a:extLst>
              <a:ext uri="{FF2B5EF4-FFF2-40B4-BE49-F238E27FC236}">
                <a16:creationId xmlns:a16="http://schemas.microsoft.com/office/drawing/2014/main" id="{88A59D83-49B5-8A62-D202-0634F0F57B59}"/>
              </a:ext>
            </a:extLst>
          </p:cNvPr>
          <p:cNvCxnSpPr>
            <a:cxnSpLocks/>
            <a:stCxn id="17" idx="0"/>
            <a:endCxn id="15" idx="1"/>
          </p:cNvCxnSpPr>
          <p:nvPr/>
        </p:nvCxnSpPr>
        <p:spPr>
          <a:xfrm rot="5400000" flipH="1" flipV="1">
            <a:off x="2221840" y="2555872"/>
            <a:ext cx="1317252" cy="1097068"/>
          </a:xfrm>
          <a:prstGeom prst="curved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21">
            <a:extLst>
              <a:ext uri="{FF2B5EF4-FFF2-40B4-BE49-F238E27FC236}">
                <a16:creationId xmlns:a16="http://schemas.microsoft.com/office/drawing/2014/main" id="{E6DDD493-CAF5-45B8-166E-057B564221CC}"/>
              </a:ext>
            </a:extLst>
          </p:cNvPr>
          <p:cNvCxnSpPr>
            <a:cxnSpLocks/>
            <a:stCxn id="16" idx="1"/>
            <a:endCxn id="17" idx="3"/>
          </p:cNvCxnSpPr>
          <p:nvPr/>
        </p:nvCxnSpPr>
        <p:spPr>
          <a:xfrm rot="10800000" flipV="1">
            <a:off x="3032473" y="3423338"/>
            <a:ext cx="393445" cy="616695"/>
          </a:xfrm>
          <a:prstGeom prst="curved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21">
            <a:extLst>
              <a:ext uri="{FF2B5EF4-FFF2-40B4-BE49-F238E27FC236}">
                <a16:creationId xmlns:a16="http://schemas.microsoft.com/office/drawing/2014/main" id="{4A389D0E-577B-50A2-2CB5-72B8E0F676BD}"/>
              </a:ext>
            </a:extLst>
          </p:cNvPr>
          <p:cNvCxnSpPr>
            <a:cxnSpLocks/>
            <a:stCxn id="17" idx="2"/>
            <a:endCxn id="18" idx="2"/>
          </p:cNvCxnSpPr>
          <p:nvPr/>
        </p:nvCxnSpPr>
        <p:spPr>
          <a:xfrm rot="16200000" flipH="1">
            <a:off x="3568619" y="3080348"/>
            <a:ext cx="928784" cy="3402159"/>
          </a:xfrm>
          <a:prstGeom prst="curvedConnector3">
            <a:avLst>
              <a:gd name="adj1" fmla="val 158592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21">
            <a:extLst>
              <a:ext uri="{FF2B5EF4-FFF2-40B4-BE49-F238E27FC236}">
                <a16:creationId xmlns:a16="http://schemas.microsoft.com/office/drawing/2014/main" id="{79DF3EAB-2647-1169-1DA5-4A7BFB8134F7}"/>
              </a:ext>
            </a:extLst>
          </p:cNvPr>
          <p:cNvCxnSpPr>
            <a:cxnSpLocks/>
            <a:stCxn id="18" idx="1"/>
            <a:endCxn id="19" idx="2"/>
          </p:cNvCxnSpPr>
          <p:nvPr/>
        </p:nvCxnSpPr>
        <p:spPr>
          <a:xfrm rot="10800000">
            <a:off x="4126460" y="4691816"/>
            <a:ext cx="907091" cy="277003"/>
          </a:xfrm>
          <a:prstGeom prst="curved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21">
            <a:extLst>
              <a:ext uri="{FF2B5EF4-FFF2-40B4-BE49-F238E27FC236}">
                <a16:creationId xmlns:a16="http://schemas.microsoft.com/office/drawing/2014/main" id="{22A13006-74FC-B1AF-9DA0-C0DB217E2855}"/>
              </a:ext>
            </a:extLst>
          </p:cNvPr>
          <p:cNvCxnSpPr>
            <a:cxnSpLocks/>
            <a:stCxn id="19" idx="0"/>
            <a:endCxn id="16" idx="2"/>
          </p:cNvCxnSpPr>
          <p:nvPr/>
        </p:nvCxnSpPr>
        <p:spPr>
          <a:xfrm rot="16200000" flipV="1">
            <a:off x="3907724" y="3919075"/>
            <a:ext cx="437470" cy="1"/>
          </a:xfrm>
          <a:prstGeom prst="curved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21">
            <a:extLst>
              <a:ext uri="{FF2B5EF4-FFF2-40B4-BE49-F238E27FC236}">
                <a16:creationId xmlns:a16="http://schemas.microsoft.com/office/drawing/2014/main" id="{9DB94837-79DD-5E3F-C50E-1690886CADC2}"/>
              </a:ext>
            </a:extLst>
          </p:cNvPr>
          <p:cNvCxnSpPr>
            <a:cxnSpLocks/>
            <a:stCxn id="5" idx="1"/>
            <a:endCxn id="20" idx="0"/>
          </p:cNvCxnSpPr>
          <p:nvPr/>
        </p:nvCxnSpPr>
        <p:spPr>
          <a:xfrm rot="10800000" flipV="1">
            <a:off x="1114386" y="1573642"/>
            <a:ext cx="1217547" cy="1530028"/>
          </a:xfrm>
          <a:prstGeom prst="curved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21">
            <a:extLst>
              <a:ext uri="{FF2B5EF4-FFF2-40B4-BE49-F238E27FC236}">
                <a16:creationId xmlns:a16="http://schemas.microsoft.com/office/drawing/2014/main" id="{30732E82-0770-A6B0-26CF-6685EDA8436B}"/>
              </a:ext>
            </a:extLst>
          </p:cNvPr>
          <p:cNvCxnSpPr>
            <a:cxnSpLocks/>
            <a:stCxn id="17" idx="1"/>
            <a:endCxn id="20" idx="2"/>
          </p:cNvCxnSpPr>
          <p:nvPr/>
        </p:nvCxnSpPr>
        <p:spPr>
          <a:xfrm rot="10800000">
            <a:off x="1114385" y="3657674"/>
            <a:ext cx="517006" cy="382360"/>
          </a:xfrm>
          <a:prstGeom prst="curved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E52A6A8B-B3BF-EF51-7D41-C5C34C31DC25}"/>
              </a:ext>
            </a:extLst>
          </p:cNvPr>
          <p:cNvSpPr txBox="1"/>
          <p:nvPr/>
        </p:nvSpPr>
        <p:spPr>
          <a:xfrm>
            <a:off x="4992778" y="2294210"/>
            <a:ext cx="282632" cy="233910"/>
          </a:xfrm>
          <a:prstGeom prst="rect">
            <a:avLst/>
          </a:prstGeom>
          <a:solidFill>
            <a:schemeClr val="bg1"/>
          </a:solidFill>
        </p:spPr>
        <p:txBody>
          <a:bodyPr wrap="square" lIns="9144" tIns="9144" rIns="9144" bIns="9144" rtlCol="0">
            <a:spAutoFit/>
          </a:bodyPr>
          <a:lstStyle/>
          <a:p>
            <a:r>
              <a:rPr lang="en-US" sz="1400" dirty="0"/>
              <a:t>+</a:t>
            </a:r>
            <a:r>
              <a:rPr lang="en-US" sz="1400" dirty="0">
                <a:latin typeface="Symbol" pitchFamily="2" charset="2"/>
              </a:rPr>
              <a:t>b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5E52C08E-4E7B-E92B-BBBF-20C136EE64BD}"/>
              </a:ext>
            </a:extLst>
          </p:cNvPr>
          <p:cNvSpPr txBox="1"/>
          <p:nvPr/>
        </p:nvSpPr>
        <p:spPr>
          <a:xfrm>
            <a:off x="2364462" y="2986715"/>
            <a:ext cx="282632" cy="233910"/>
          </a:xfrm>
          <a:prstGeom prst="rect">
            <a:avLst/>
          </a:prstGeom>
          <a:solidFill>
            <a:schemeClr val="bg1"/>
          </a:solidFill>
        </p:spPr>
        <p:txBody>
          <a:bodyPr wrap="square" lIns="9144" tIns="9144" rIns="9144" bIns="9144" rtlCol="0">
            <a:spAutoFit/>
          </a:bodyPr>
          <a:lstStyle/>
          <a:p>
            <a:r>
              <a:rPr lang="en-US" sz="1400" dirty="0"/>
              <a:t>-</a:t>
            </a:r>
            <a:r>
              <a:rPr lang="en-US" sz="1400" dirty="0">
                <a:latin typeface="Symbol" pitchFamily="2" charset="2"/>
              </a:rPr>
              <a:t>h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3724F993-A820-57EF-9F83-F639EB904960}"/>
              </a:ext>
            </a:extLst>
          </p:cNvPr>
          <p:cNvSpPr txBox="1"/>
          <p:nvPr/>
        </p:nvSpPr>
        <p:spPr>
          <a:xfrm>
            <a:off x="4197180" y="2773926"/>
            <a:ext cx="282632" cy="233910"/>
          </a:xfrm>
          <a:prstGeom prst="rect">
            <a:avLst/>
          </a:prstGeom>
          <a:solidFill>
            <a:schemeClr val="bg1"/>
          </a:solidFill>
        </p:spPr>
        <p:txBody>
          <a:bodyPr wrap="square" lIns="9144" tIns="9144" rIns="9144" bIns="9144" rtlCol="0">
            <a:spAutoFit/>
          </a:bodyPr>
          <a:lstStyle/>
          <a:p>
            <a:r>
              <a:rPr lang="en-US" sz="1400" dirty="0"/>
              <a:t>-</a:t>
            </a:r>
            <a:r>
              <a:rPr lang="en-US" sz="1400" dirty="0">
                <a:latin typeface="Symbol" pitchFamily="2" charset="2"/>
              </a:rPr>
              <a:t>w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D5E397D8-A971-A53E-93E7-F058D25FDB2A}"/>
              </a:ext>
            </a:extLst>
          </p:cNvPr>
          <p:cNvSpPr txBox="1"/>
          <p:nvPr/>
        </p:nvSpPr>
        <p:spPr>
          <a:xfrm>
            <a:off x="1557714" y="1687527"/>
            <a:ext cx="282632" cy="233910"/>
          </a:xfrm>
          <a:prstGeom prst="rect">
            <a:avLst/>
          </a:prstGeom>
          <a:solidFill>
            <a:schemeClr val="bg1"/>
          </a:solidFill>
        </p:spPr>
        <p:txBody>
          <a:bodyPr wrap="square" lIns="9144" tIns="9144" rIns="9144" bIns="9144" rtlCol="0">
            <a:spAutoFit/>
          </a:bodyPr>
          <a:lstStyle/>
          <a:p>
            <a:r>
              <a:rPr lang="en-US" sz="1400" dirty="0"/>
              <a:t>-</a:t>
            </a:r>
            <a:r>
              <a:rPr lang="en-US" sz="1400" dirty="0">
                <a:latin typeface="Symbol" pitchFamily="2" charset="2"/>
              </a:rPr>
              <a:t>d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5F5FEA0E-E555-70A5-13D3-D6813ECBD89C}"/>
              </a:ext>
            </a:extLst>
          </p:cNvPr>
          <p:cNvSpPr txBox="1"/>
          <p:nvPr/>
        </p:nvSpPr>
        <p:spPr>
          <a:xfrm>
            <a:off x="2505778" y="1879718"/>
            <a:ext cx="282632" cy="233910"/>
          </a:xfrm>
          <a:prstGeom prst="rect">
            <a:avLst/>
          </a:prstGeom>
          <a:solidFill>
            <a:schemeClr val="bg1"/>
          </a:solidFill>
        </p:spPr>
        <p:txBody>
          <a:bodyPr wrap="square" lIns="9144" tIns="9144" rIns="9144" bIns="9144" rtlCol="0">
            <a:spAutoFit/>
          </a:bodyPr>
          <a:lstStyle/>
          <a:p>
            <a:r>
              <a:rPr lang="en-US" sz="1400" dirty="0">
                <a:latin typeface="Symbol" pitchFamily="2" charset="2"/>
              </a:rPr>
              <a:t>+g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F80A1273-9A88-89D7-8619-7C3A08855FC1}"/>
              </a:ext>
            </a:extLst>
          </p:cNvPr>
          <p:cNvSpPr txBox="1"/>
          <p:nvPr/>
        </p:nvSpPr>
        <p:spPr>
          <a:xfrm>
            <a:off x="3241426" y="1897696"/>
            <a:ext cx="282632" cy="233910"/>
          </a:xfrm>
          <a:prstGeom prst="rect">
            <a:avLst/>
          </a:prstGeom>
          <a:solidFill>
            <a:schemeClr val="bg1"/>
          </a:solidFill>
        </p:spPr>
        <p:txBody>
          <a:bodyPr wrap="square" lIns="9144" tIns="9144" rIns="9144" bIns="9144" rtlCol="0">
            <a:spAutoFit/>
          </a:bodyPr>
          <a:lstStyle/>
          <a:p>
            <a:r>
              <a:rPr lang="en-US" sz="1400" dirty="0">
                <a:latin typeface="Symbol" pitchFamily="2" charset="2"/>
              </a:rPr>
              <a:t>+a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DACFDBB4-9301-774F-6A01-85826EAD7F05}"/>
              </a:ext>
            </a:extLst>
          </p:cNvPr>
          <p:cNvSpPr txBox="1"/>
          <p:nvPr/>
        </p:nvSpPr>
        <p:spPr>
          <a:xfrm>
            <a:off x="3074689" y="3525451"/>
            <a:ext cx="282632" cy="233910"/>
          </a:xfrm>
          <a:prstGeom prst="rect">
            <a:avLst/>
          </a:prstGeom>
          <a:solidFill>
            <a:schemeClr val="bg1"/>
          </a:solidFill>
        </p:spPr>
        <p:txBody>
          <a:bodyPr wrap="square" lIns="9144" tIns="9144" rIns="9144" bIns="9144" rtlCol="0">
            <a:spAutoFit/>
          </a:bodyPr>
          <a:lstStyle/>
          <a:p>
            <a:r>
              <a:rPr lang="en-US" sz="1400" dirty="0">
                <a:latin typeface="Symbol" pitchFamily="2" charset="2"/>
              </a:rPr>
              <a:t>-t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6E6BCD34-C4FA-E4EA-C25C-6718A08AFC5B}"/>
              </a:ext>
            </a:extLst>
          </p:cNvPr>
          <p:cNvSpPr txBox="1"/>
          <p:nvPr/>
        </p:nvSpPr>
        <p:spPr>
          <a:xfrm>
            <a:off x="1139805" y="3880936"/>
            <a:ext cx="282632" cy="233910"/>
          </a:xfrm>
          <a:prstGeom prst="rect">
            <a:avLst/>
          </a:prstGeom>
          <a:solidFill>
            <a:schemeClr val="bg1"/>
          </a:solidFill>
        </p:spPr>
        <p:txBody>
          <a:bodyPr wrap="square" lIns="9144" tIns="9144" rIns="9144" bIns="9144" rtlCol="0">
            <a:spAutoFit/>
          </a:bodyPr>
          <a:lstStyle/>
          <a:p>
            <a:r>
              <a:rPr lang="en-US" sz="1400" dirty="0">
                <a:latin typeface="Symbol" pitchFamily="2" charset="2"/>
              </a:rPr>
              <a:t>+y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68E61389-802A-FB81-BC67-3654F6D6EF8B}"/>
              </a:ext>
            </a:extLst>
          </p:cNvPr>
          <p:cNvSpPr txBox="1"/>
          <p:nvPr/>
        </p:nvSpPr>
        <p:spPr>
          <a:xfrm>
            <a:off x="4055864" y="3858619"/>
            <a:ext cx="282632" cy="233910"/>
          </a:xfrm>
          <a:prstGeom prst="rect">
            <a:avLst/>
          </a:prstGeom>
          <a:solidFill>
            <a:schemeClr val="bg1"/>
          </a:solidFill>
        </p:spPr>
        <p:txBody>
          <a:bodyPr wrap="square" lIns="9144" tIns="9144" rIns="9144" bIns="9144" rtlCol="0">
            <a:spAutoFit/>
          </a:bodyPr>
          <a:lstStyle/>
          <a:p>
            <a:r>
              <a:rPr lang="en-US" sz="1400" dirty="0">
                <a:latin typeface="Symbol" pitchFamily="2" charset="2"/>
              </a:rPr>
              <a:t>+f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23A51B68-0F84-9303-9D06-6E979A04CFF4}"/>
              </a:ext>
            </a:extLst>
          </p:cNvPr>
          <p:cNvSpPr txBox="1"/>
          <p:nvPr/>
        </p:nvSpPr>
        <p:spPr>
          <a:xfrm>
            <a:off x="3733013" y="5628604"/>
            <a:ext cx="282632" cy="233910"/>
          </a:xfrm>
          <a:prstGeom prst="rect">
            <a:avLst/>
          </a:prstGeom>
          <a:solidFill>
            <a:schemeClr val="bg1"/>
          </a:solidFill>
        </p:spPr>
        <p:txBody>
          <a:bodyPr wrap="square" lIns="9144" tIns="9144" rIns="9144" bIns="9144" rtlCol="0">
            <a:spAutoFit/>
          </a:bodyPr>
          <a:lstStyle/>
          <a:p>
            <a:r>
              <a:rPr lang="en-US" sz="1400" dirty="0">
                <a:latin typeface="Symbol" pitchFamily="2" charset="2"/>
              </a:rPr>
              <a:t>+s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23D1B6E2-4093-9F22-728E-D4B4B171E22A}"/>
              </a:ext>
            </a:extLst>
          </p:cNvPr>
          <p:cNvSpPr txBox="1"/>
          <p:nvPr/>
        </p:nvSpPr>
        <p:spPr>
          <a:xfrm>
            <a:off x="4625710" y="4887941"/>
            <a:ext cx="282632" cy="233910"/>
          </a:xfrm>
          <a:prstGeom prst="rect">
            <a:avLst/>
          </a:prstGeom>
          <a:solidFill>
            <a:schemeClr val="bg1"/>
          </a:solidFill>
        </p:spPr>
        <p:txBody>
          <a:bodyPr wrap="square" lIns="9144" tIns="9144" rIns="9144" bIns="9144" rtlCol="0">
            <a:spAutoFit/>
          </a:bodyPr>
          <a:lstStyle/>
          <a:p>
            <a:r>
              <a:rPr lang="en-US" sz="1400" dirty="0">
                <a:latin typeface="Symbol" pitchFamily="2" charset="2"/>
              </a:rPr>
              <a:t>+r</a:t>
            </a:r>
          </a:p>
        </p:txBody>
      </p:sp>
    </p:spTree>
    <p:extLst>
      <p:ext uri="{BB962C8B-B14F-4D97-AF65-F5344CB8AC3E}">
        <p14:creationId xmlns:p14="http://schemas.microsoft.com/office/powerpoint/2010/main" val="3031464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</TotalTime>
  <Words>48</Words>
  <Application>Microsoft Macintosh PowerPoint</Application>
  <PresentationFormat>Letter Paper (8.5x11 in)</PresentationFormat>
  <Paragraphs>30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Avenir Next Condensed</vt:lpstr>
      <vt:lpstr>Avenir Next Condensed Demi Bold</vt:lpstr>
      <vt:lpstr>Symbol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Craig</dc:creator>
  <cp:lastModifiedBy>David Craig</cp:lastModifiedBy>
  <cp:revision>2</cp:revision>
  <dcterms:created xsi:type="dcterms:W3CDTF">2026-04-30T00:09:52Z</dcterms:created>
  <dcterms:modified xsi:type="dcterms:W3CDTF">2026-04-30T00:32:01Z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9c3695e-5069-48a6-8b9d-791a4b61946e_Enabled">
    <vt:lpwstr>true</vt:lpwstr>
  </property>
  <property fmtid="{D5CDD505-2E9C-101B-9397-08002B2CF9AE}" pid="3" name="MSIP_Label_a9c3695e-5069-48a6-8b9d-791a4b61946e_SetDate">
    <vt:lpwstr>2026-04-30T00:26:35Z</vt:lpwstr>
  </property>
  <property fmtid="{D5CDD505-2E9C-101B-9397-08002B2CF9AE}" pid="4" name="MSIP_Label_a9c3695e-5069-48a6-8b9d-791a4b61946e_Method">
    <vt:lpwstr>Standard</vt:lpwstr>
  </property>
  <property fmtid="{D5CDD505-2E9C-101B-9397-08002B2CF9AE}" pid="5" name="MSIP_Label_a9c3695e-5069-48a6-8b9d-791a4b61946e_Name">
    <vt:lpwstr>Internal</vt:lpwstr>
  </property>
  <property fmtid="{D5CDD505-2E9C-101B-9397-08002B2CF9AE}" pid="6" name="MSIP_Label_a9c3695e-5069-48a6-8b9d-791a4b61946e_SiteId">
    <vt:lpwstr>972a3ea3-f979-4875-a2b8-cff001ab69e7</vt:lpwstr>
  </property>
  <property fmtid="{D5CDD505-2E9C-101B-9397-08002B2CF9AE}" pid="7" name="MSIP_Label_a9c3695e-5069-48a6-8b9d-791a4b61946e_ActionId">
    <vt:lpwstr>a44ed36b-9fa3-4f66-a10f-62d1ba7c5584</vt:lpwstr>
  </property>
  <property fmtid="{D5CDD505-2E9C-101B-9397-08002B2CF9AE}" pid="8" name="MSIP_Label_a9c3695e-5069-48a6-8b9d-791a4b61946e_ContentBits">
    <vt:lpwstr>0</vt:lpwstr>
  </property>
  <property fmtid="{D5CDD505-2E9C-101B-9397-08002B2CF9AE}" pid="9" name="MSIP_Label_a9c3695e-5069-48a6-8b9d-791a4b61946e_Tag">
    <vt:lpwstr>50, 3, 0, 1</vt:lpwstr>
  </property>
</Properties>
</file>