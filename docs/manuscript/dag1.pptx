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  <p:sldId id="258" r:id="rId3"/>
    <p:sldId id="257" r:id="rId4"/>
  </p:sldIdLst>
  <p:sldSz cx="13716000" cy="13716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666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2"/>
    <p:restoredTop sz="94697"/>
  </p:normalViewPr>
  <p:slideViewPr>
    <p:cSldViewPr snapToGrid="0">
      <p:cViewPr>
        <p:scale>
          <a:sx n="100" d="100"/>
          <a:sy n="100" d="100"/>
        </p:scale>
        <p:origin x="3432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244726"/>
            <a:ext cx="11658600" cy="47752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7204076"/>
            <a:ext cx="10287000" cy="3311524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211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3419479"/>
            <a:ext cx="11830050" cy="5705474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9178929"/>
            <a:ext cx="11830050" cy="3000374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3842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3651250"/>
            <a:ext cx="5829300" cy="87026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838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730253"/>
            <a:ext cx="11830050" cy="265112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3362326"/>
            <a:ext cx="5802510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5010150"/>
            <a:ext cx="5802510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3362326"/>
            <a:ext cx="5831087" cy="1647824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5010150"/>
            <a:ext cx="5831087" cy="7369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942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0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133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1974853"/>
            <a:ext cx="6943725" cy="9747250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914400"/>
            <a:ext cx="4423767" cy="32004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1974853"/>
            <a:ext cx="6943725" cy="9747250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4114800"/>
            <a:ext cx="4423767" cy="7623176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88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0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730250"/>
            <a:ext cx="2957513" cy="1162367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730250"/>
            <a:ext cx="8701088" cy="1162367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57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730253"/>
            <a:ext cx="1183005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3651250"/>
            <a:ext cx="1183005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716561-7427-B747-8AFE-546ED547BA0F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2712703"/>
            <a:ext cx="462915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2712703"/>
            <a:ext cx="30861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BB33F5-3B38-2E49-A597-94BB5C2020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6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B6F72B3D-5B4E-8947-63BA-0A0305C1CB7B}"/>
              </a:ext>
            </a:extLst>
          </p:cNvPr>
          <p:cNvSpPr/>
          <p:nvPr/>
        </p:nvSpPr>
        <p:spPr>
          <a:xfrm>
            <a:off x="5760933" y="1554567"/>
            <a:ext cx="1401081" cy="554005"/>
          </a:xfrm>
          <a:prstGeom prst="round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ecDNA_EGFR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(Z) Instrument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FDD7D95-ABAF-C131-85B9-E4B005D88EE7}"/>
              </a:ext>
            </a:extLst>
          </p:cNvPr>
          <p:cNvSpPr/>
          <p:nvPr/>
        </p:nvSpPr>
        <p:spPr>
          <a:xfrm>
            <a:off x="5760933" y="2608835"/>
            <a:ext cx="1401081" cy="554004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EGFR_expression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(X) Exposure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B948529-F3BD-9212-2EF6-F775B2E83129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>
            <a:off x="6461473" y="2108571"/>
            <a:ext cx="0" cy="500264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AF96C8-B474-CAFF-F386-0D7AD4CF5E21}"/>
              </a:ext>
            </a:extLst>
          </p:cNvPr>
          <p:cNvSpPr txBox="1"/>
          <p:nvPr/>
        </p:nvSpPr>
        <p:spPr>
          <a:xfrm>
            <a:off x="6508787" y="2163919"/>
            <a:ext cx="282632" cy="233910"/>
          </a:xfrm>
          <a:prstGeom prst="rect">
            <a:avLst/>
          </a:prstGeom>
          <a:solidFill>
            <a:schemeClr val="bg1"/>
          </a:solidFill>
        </p:spPr>
        <p:txBody>
          <a:bodyPr wrap="square" lIns="9144" tIns="9144" rIns="9144" bIns="9144" rtlCol="0">
            <a:spAutoFit/>
          </a:bodyPr>
          <a:lstStyle/>
          <a:p>
            <a:r>
              <a:rPr lang="en-US" sz="1400" dirty="0"/>
              <a:t>+</a:t>
            </a:r>
            <a:r>
              <a:rPr lang="en-US" sz="1400" dirty="0">
                <a:latin typeface="Symbol" pitchFamily="2" charset="2"/>
              </a:rPr>
              <a:t>k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F37B9DF-DC37-7D63-323B-2CCA8B8A15BB}"/>
              </a:ext>
            </a:extLst>
          </p:cNvPr>
          <p:cNvSpPr/>
          <p:nvPr/>
        </p:nvSpPr>
        <p:spPr>
          <a:xfrm>
            <a:off x="8525525" y="4409905"/>
            <a:ext cx="1211073" cy="5540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Survival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Outcome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0B379B6-72BD-16EB-9EE7-3CE71DBD2771}"/>
              </a:ext>
            </a:extLst>
          </p:cNvPr>
          <p:cNvSpPr/>
          <p:nvPr/>
        </p:nvSpPr>
        <p:spPr>
          <a:xfrm>
            <a:off x="6767744" y="4464658"/>
            <a:ext cx="1259765" cy="5540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Proliferation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Outcome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47343C9-E2E8-4400-3C66-7B0ECB35890D}"/>
              </a:ext>
            </a:extLst>
          </p:cNvPr>
          <p:cNvSpPr/>
          <p:nvPr/>
        </p:nvSpPr>
        <p:spPr>
          <a:xfrm>
            <a:off x="7276248" y="5496835"/>
            <a:ext cx="1401081" cy="55400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O2_local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Confounder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61982BF-169D-9BF9-8881-C6ED769FDFFD}"/>
              </a:ext>
            </a:extLst>
          </p:cNvPr>
          <p:cNvSpPr/>
          <p:nvPr/>
        </p:nvSpPr>
        <p:spPr>
          <a:xfrm>
            <a:off x="4914454" y="5525849"/>
            <a:ext cx="1401081" cy="554004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Hypoxia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Mediator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418072C7-7566-5CA0-146C-FA54C0952D86}"/>
              </a:ext>
            </a:extLst>
          </p:cNvPr>
          <p:cNvSpPr/>
          <p:nvPr/>
        </p:nvSpPr>
        <p:spPr>
          <a:xfrm>
            <a:off x="4870178" y="4370516"/>
            <a:ext cx="1141941" cy="5540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VEGF Secretion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Outcome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37C5A457-5A60-545E-190D-760DE75401A0}"/>
              </a:ext>
            </a:extLst>
          </p:cNvPr>
          <p:cNvSpPr/>
          <p:nvPr/>
        </p:nvSpPr>
        <p:spPr>
          <a:xfrm>
            <a:off x="3206919" y="4409905"/>
            <a:ext cx="1401081" cy="554004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" tIns="9144" rIns="9144" bIns="9144" rtlCol="0" anchor="ctr"/>
          <a:lstStyle/>
          <a:p>
            <a:pPr algn="ctr"/>
            <a:r>
              <a:rPr lang="en-US" sz="1400" b="1" dirty="0">
                <a:latin typeface="Avenir Next Condensed Demi Bold" panose="020B0506020202020204" pitchFamily="34" charset="0"/>
              </a:rPr>
              <a:t>Migration</a:t>
            </a:r>
          </a:p>
          <a:p>
            <a:pPr algn="ctr"/>
            <a:r>
              <a:rPr lang="en-US" sz="1100" dirty="0">
                <a:latin typeface="Avenir Next Condensed" panose="020B0506020202020204" pitchFamily="34" charset="0"/>
              </a:rPr>
              <a:t>Outcome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846563-D7A6-CE4D-CEE4-D0964D18B43B}"/>
              </a:ext>
            </a:extLst>
          </p:cNvPr>
          <p:cNvCxnSpPr>
            <a:cxnSpLocks/>
            <a:stCxn id="5" idx="2"/>
            <a:endCxn id="14" idx="0"/>
          </p:cNvCxnSpPr>
          <p:nvPr/>
        </p:nvCxnSpPr>
        <p:spPr>
          <a:xfrm rot="16200000" flipH="1">
            <a:off x="7172735" y="2451578"/>
            <a:ext cx="1247066" cy="2669588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1">
            <a:extLst>
              <a:ext uri="{FF2B5EF4-FFF2-40B4-BE49-F238E27FC236}">
                <a16:creationId xmlns:a16="http://schemas.microsoft.com/office/drawing/2014/main" id="{7C02AC39-3B6D-3F8D-B002-C63B474AF8BD}"/>
              </a:ext>
            </a:extLst>
          </p:cNvPr>
          <p:cNvCxnSpPr>
            <a:cxnSpLocks/>
            <a:stCxn id="5" idx="2"/>
            <a:endCxn id="15" idx="0"/>
          </p:cNvCxnSpPr>
          <p:nvPr/>
        </p:nvCxnSpPr>
        <p:spPr>
          <a:xfrm rot="16200000" flipH="1">
            <a:off x="6278641" y="3345671"/>
            <a:ext cx="1301819" cy="936153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21">
            <a:extLst>
              <a:ext uri="{FF2B5EF4-FFF2-40B4-BE49-F238E27FC236}">
                <a16:creationId xmlns:a16="http://schemas.microsoft.com/office/drawing/2014/main" id="{BC7EE0B5-1411-B829-2422-39A4CB1D5290}"/>
              </a:ext>
            </a:extLst>
          </p:cNvPr>
          <p:cNvCxnSpPr>
            <a:cxnSpLocks/>
            <a:stCxn id="5" idx="2"/>
            <a:endCxn id="18" idx="0"/>
          </p:cNvCxnSpPr>
          <p:nvPr/>
        </p:nvCxnSpPr>
        <p:spPr>
          <a:xfrm rot="5400000">
            <a:off x="5347474" y="3256515"/>
            <a:ext cx="1207677" cy="1020325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21">
            <a:extLst>
              <a:ext uri="{FF2B5EF4-FFF2-40B4-BE49-F238E27FC236}">
                <a16:creationId xmlns:a16="http://schemas.microsoft.com/office/drawing/2014/main" id="{88A59D83-49B5-8A62-D202-0634F0F57B59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rot="5400000" flipH="1" flipV="1">
            <a:off x="6252718" y="4380940"/>
            <a:ext cx="507187" cy="1782632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21">
            <a:extLst>
              <a:ext uri="{FF2B5EF4-FFF2-40B4-BE49-F238E27FC236}">
                <a16:creationId xmlns:a16="http://schemas.microsoft.com/office/drawing/2014/main" id="{E6DDD493-CAF5-45B8-166E-057B564221CC}"/>
              </a:ext>
            </a:extLst>
          </p:cNvPr>
          <p:cNvCxnSpPr>
            <a:cxnSpLocks/>
            <a:stCxn id="16" idx="1"/>
            <a:endCxn id="17" idx="3"/>
          </p:cNvCxnSpPr>
          <p:nvPr/>
        </p:nvCxnSpPr>
        <p:spPr>
          <a:xfrm rot="10800000" flipV="1">
            <a:off x="6315536" y="5773837"/>
            <a:ext cx="960713" cy="29014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21">
            <a:extLst>
              <a:ext uri="{FF2B5EF4-FFF2-40B4-BE49-F238E27FC236}">
                <a16:creationId xmlns:a16="http://schemas.microsoft.com/office/drawing/2014/main" id="{4A389D0E-577B-50A2-2CB5-72B8E0F676BD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rot="16200000" flipV="1">
            <a:off x="5227408" y="5138262"/>
            <a:ext cx="601329" cy="173846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21">
            <a:extLst>
              <a:ext uri="{FF2B5EF4-FFF2-40B4-BE49-F238E27FC236}">
                <a16:creationId xmlns:a16="http://schemas.microsoft.com/office/drawing/2014/main" id="{9DB94837-79DD-5E3F-C50E-1690886CADC2}"/>
              </a:ext>
            </a:extLst>
          </p:cNvPr>
          <p:cNvCxnSpPr>
            <a:cxnSpLocks/>
            <a:stCxn id="5" idx="2"/>
            <a:endCxn id="20" idx="0"/>
          </p:cNvCxnSpPr>
          <p:nvPr/>
        </p:nvCxnSpPr>
        <p:spPr>
          <a:xfrm rot="5400000">
            <a:off x="4560934" y="2509365"/>
            <a:ext cx="1247066" cy="2554014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Arrow Connector 21">
            <a:extLst>
              <a:ext uri="{FF2B5EF4-FFF2-40B4-BE49-F238E27FC236}">
                <a16:creationId xmlns:a16="http://schemas.microsoft.com/office/drawing/2014/main" id="{30732E82-0770-A6B0-26CF-6685EDA8436B}"/>
              </a:ext>
            </a:extLst>
          </p:cNvPr>
          <p:cNvCxnSpPr>
            <a:cxnSpLocks/>
            <a:stCxn id="17" idx="0"/>
            <a:endCxn id="20" idx="2"/>
          </p:cNvCxnSpPr>
          <p:nvPr/>
        </p:nvCxnSpPr>
        <p:spPr>
          <a:xfrm rot="16200000" flipV="1">
            <a:off x="4480258" y="4391111"/>
            <a:ext cx="561940" cy="1707535"/>
          </a:xfrm>
          <a:prstGeom prst="curvedConnector3">
            <a:avLst>
              <a:gd name="adj1" fmla="val 50000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464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EC1EB16-31F4-4168-62DF-6CFA998DFE1C}"/>
              </a:ext>
            </a:extLst>
          </p:cNvPr>
          <p:cNvSpPr txBox="1"/>
          <p:nvPr/>
        </p:nvSpPr>
        <p:spPr>
          <a:xfrm>
            <a:off x="514350" y="531989"/>
            <a:ext cx="2544939" cy="19793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r>
              <a:rPr lang="en-US" sz="1050" b="1" dirty="0">
                <a:solidFill>
                  <a:srgbClr val="0077BB"/>
                </a:solidFill>
                <a:latin typeface="Calibri"/>
              </a:rPr>
              <a:t>A. Example Simulation: Spatial Organization</a:t>
            </a:r>
            <a:endParaRPr sz="1050" b="1" dirty="0">
              <a:solidFill>
                <a:srgbClr val="0077BB"/>
              </a:solidFill>
              <a:latin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78D1E08-4740-BE67-CE7E-438050E300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16" t="6868" r="2770" b="1648"/>
          <a:stretch>
            <a:fillRect/>
          </a:stretch>
        </p:blipFill>
        <p:spPr>
          <a:xfrm>
            <a:off x="469058" y="3144325"/>
            <a:ext cx="5976317" cy="38270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2D4A871-BA2A-9F48-8DFA-FF81E99C4024}"/>
              </a:ext>
            </a:extLst>
          </p:cNvPr>
          <p:cNvSpPr txBox="1"/>
          <p:nvPr/>
        </p:nvSpPr>
        <p:spPr>
          <a:xfrm>
            <a:off x="514350" y="2946391"/>
            <a:ext cx="2544939" cy="19793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r>
              <a:rPr lang="en-US" sz="1050" b="1" dirty="0">
                <a:solidFill>
                  <a:srgbClr val="0077BB"/>
                </a:solidFill>
                <a:latin typeface="Calibri"/>
              </a:rPr>
              <a:t>B. Environmental Dynamics</a:t>
            </a:r>
            <a:endParaRPr sz="1050" b="1" dirty="0">
              <a:solidFill>
                <a:srgbClr val="0077BB"/>
              </a:solidFill>
              <a:latin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1FCA80-6EDE-A85D-CCDC-0AAC6DD1B17B}"/>
              </a:ext>
            </a:extLst>
          </p:cNvPr>
          <p:cNvSpPr txBox="1"/>
          <p:nvPr/>
        </p:nvSpPr>
        <p:spPr>
          <a:xfrm>
            <a:off x="6507864" y="4414367"/>
            <a:ext cx="2544939" cy="19793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r>
              <a:rPr lang="en-US" sz="1050" b="1" dirty="0">
                <a:solidFill>
                  <a:srgbClr val="0077BB"/>
                </a:solidFill>
                <a:latin typeface="Calibri"/>
              </a:rPr>
              <a:t>E. Spatial Gradients (Final Timepoint)</a:t>
            </a:r>
            <a:endParaRPr sz="1050" b="1" dirty="0">
              <a:solidFill>
                <a:srgbClr val="0077BB"/>
              </a:solidFill>
              <a:latin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AF07137-52A6-F6F8-8508-614306E03A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482" b="18535"/>
          <a:stretch>
            <a:fillRect/>
          </a:stretch>
        </p:blipFill>
        <p:spPr>
          <a:xfrm>
            <a:off x="6490668" y="729923"/>
            <a:ext cx="3139895" cy="196688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496355F-933B-30DE-6539-B9BD1F7B1F9F}"/>
              </a:ext>
            </a:extLst>
          </p:cNvPr>
          <p:cNvSpPr txBox="1"/>
          <p:nvPr/>
        </p:nvSpPr>
        <p:spPr>
          <a:xfrm>
            <a:off x="6490667" y="632367"/>
            <a:ext cx="2544939" cy="19793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r>
              <a:rPr lang="en-US" sz="1050" b="1" dirty="0">
                <a:solidFill>
                  <a:srgbClr val="0077BB"/>
                </a:solidFill>
                <a:latin typeface="Calibri"/>
              </a:rPr>
              <a:t>C. Population Dynamics</a:t>
            </a:r>
            <a:endParaRPr sz="1050" b="1" dirty="0">
              <a:solidFill>
                <a:srgbClr val="0077BB"/>
              </a:solidFill>
              <a:latin typeface="Calibri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9D57289-F07B-6575-8A49-1FD57E563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6271" y="2961580"/>
            <a:ext cx="5158669" cy="143672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A9D7440-C37E-BBC7-C57D-6CFA9598CB58}"/>
              </a:ext>
            </a:extLst>
          </p:cNvPr>
          <p:cNvSpPr txBox="1"/>
          <p:nvPr/>
        </p:nvSpPr>
        <p:spPr>
          <a:xfrm>
            <a:off x="6456271" y="2730227"/>
            <a:ext cx="2544939" cy="197934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r>
              <a:rPr lang="en-US" sz="1050" b="1" dirty="0">
                <a:solidFill>
                  <a:srgbClr val="0077BB"/>
                </a:solidFill>
                <a:latin typeface="Calibri"/>
              </a:rPr>
              <a:t>D. ecDNA Distribution</a:t>
            </a:r>
            <a:endParaRPr sz="1050" b="1" dirty="0">
              <a:solidFill>
                <a:srgbClr val="0077BB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2CA258-593A-E75E-E5CA-28C576777B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58" y="704557"/>
            <a:ext cx="5976317" cy="222360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480F2C-D924-228C-9377-B8357721E92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12178"/>
          <a:stretch>
            <a:fillRect/>
          </a:stretch>
        </p:blipFill>
        <p:spPr>
          <a:xfrm>
            <a:off x="6456271" y="4596734"/>
            <a:ext cx="5182539" cy="2254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04810E-D96C-18AA-DEE3-E03CCDC3386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15616"/>
          <a:stretch>
            <a:fillRect/>
          </a:stretch>
        </p:blipFill>
        <p:spPr>
          <a:xfrm>
            <a:off x="9563341" y="893001"/>
            <a:ext cx="1981991" cy="164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753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2C32D4B1-E0F3-0B49-54DA-9B58A62F7B8A}"/>
              </a:ext>
            </a:extLst>
          </p:cNvPr>
          <p:cNvSpPr txBox="1"/>
          <p:nvPr/>
        </p:nvSpPr>
        <p:spPr>
          <a:xfrm>
            <a:off x="7268051" y="1796471"/>
            <a:ext cx="4297680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77BB"/>
                </a:solidFill>
                <a:latin typeface="Calibri"/>
              </a:rPr>
              <a:t>A. </a:t>
            </a:r>
            <a:r>
              <a:rPr sz="1200" b="1" dirty="0">
                <a:solidFill>
                  <a:srgbClr val="0077BB"/>
                </a:solidFill>
                <a:latin typeface="Calibri"/>
              </a:rPr>
              <a:t>MULTI-SCALE 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E9FE85-B93F-68D1-0EAE-75071B3B8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0691" y="1999442"/>
            <a:ext cx="7772400" cy="2984746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57923BA-E60A-EDED-9B1A-881902840CC8}"/>
              </a:ext>
            </a:extLst>
          </p:cNvPr>
          <p:cNvSpPr/>
          <p:nvPr/>
        </p:nvSpPr>
        <p:spPr>
          <a:xfrm>
            <a:off x="55557" y="6018565"/>
            <a:ext cx="5261681" cy="6229879"/>
          </a:xfrm>
          <a:prstGeom prst="roundRect">
            <a:avLst>
              <a:gd name="adj" fmla="val 2805"/>
            </a:avLst>
          </a:prstGeom>
          <a:solidFill>
            <a:srgbClr val="E3EEF7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t" anchorCtr="0"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venir Next Condensed Demi Bold" panose="020B0506020202020204" pitchFamily="34" charset="0"/>
              </a:rPr>
              <a:t>Tissue Scale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Domain 10x30 mm, env grids (O2, glucose, VEGF, lactate)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Vascular density, spatial hash (20 um buckets)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2B5EC314-8C56-217F-2E5E-FCD624383F16}"/>
              </a:ext>
            </a:extLst>
          </p:cNvPr>
          <p:cNvSpPr/>
          <p:nvPr/>
        </p:nvSpPr>
        <p:spPr>
          <a:xfrm>
            <a:off x="55558" y="7306787"/>
            <a:ext cx="4972899" cy="3401290"/>
          </a:xfrm>
          <a:prstGeom prst="roundRect">
            <a:avLst>
              <a:gd name="adj" fmla="val 3225"/>
            </a:avLst>
          </a:prstGeom>
          <a:solidFill>
            <a:srgbClr val="E0F1EC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t" anchorCtr="0"/>
          <a:lstStyle/>
          <a:p>
            <a:pPr algn="ctr"/>
            <a:r>
              <a:rPr 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Avenir Next Condensed Demi Bold" panose="020B0506020202020204" pitchFamily="34" charset="0"/>
              </a:rPr>
              <a:t>Cellular Scale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Per-cell state: type, position, cycle phase, ecDNA_count,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O2_local, glucose</a:t>
            </a:r>
            <a:r>
              <a:rPr lang="en-US"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local, EGFR_expression,</a:t>
            </a:r>
          </a:p>
          <a:p>
            <a:pPr algn="ctr"/>
            <a:r>
              <a:rPr lang="en-US"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I</a:t>
            </a:r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s</a:t>
            </a:r>
            <a:r>
              <a:rPr lang="en-US"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hypoxic, is</a:t>
            </a:r>
            <a:r>
              <a:rPr lang="en-US"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alive, lineage parent</a:t>
            </a:r>
            <a:r>
              <a:rPr lang="en-US"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 </a:t>
            </a:r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id</a:t>
            </a:r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3CD8560C-F064-4340-ECD4-F1C1AF1ED6FB}"/>
              </a:ext>
            </a:extLst>
          </p:cNvPr>
          <p:cNvSpPr/>
          <p:nvPr/>
        </p:nvSpPr>
        <p:spPr>
          <a:xfrm>
            <a:off x="307018" y="8466454"/>
            <a:ext cx="4297680" cy="1040761"/>
          </a:xfrm>
          <a:prstGeom prst="roundRect">
            <a:avLst/>
          </a:prstGeom>
          <a:solidFill>
            <a:srgbClr val="FBEBDD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lang="en-US" sz="1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Avenir Next Condensed Demi Bold" panose="020B0506020202020204" pitchFamily="34" charset="0"/>
              </a:rPr>
              <a:t>Molecular Scale</a:t>
            </a:r>
          </a:p>
          <a:p>
            <a:pPr algn="ctr"/>
            <a:r>
              <a:rPr sz="105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ecDNA segregation: Binomial(N, 0.5)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EGFR ~ gene dosage + HIF-1α upregulation</a:t>
            </a:r>
          </a:p>
          <a:p>
            <a:pPr algn="ctr"/>
            <a:r>
              <a:rPr sz="14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VEGF, migration, survival modulated by EGFR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5FA2758-E636-934A-1951-1EC9F371DE8B}"/>
              </a:ext>
            </a:extLst>
          </p:cNvPr>
          <p:cNvGrpSpPr/>
          <p:nvPr/>
        </p:nvGrpSpPr>
        <p:grpSpPr>
          <a:xfrm>
            <a:off x="8286873" y="4558422"/>
            <a:ext cx="3491555" cy="253942"/>
            <a:chOff x="108461" y="9706705"/>
            <a:chExt cx="4930577" cy="702202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EE7DA44E-6E15-7FF3-CBF7-B7C5310230B5}"/>
                </a:ext>
              </a:extLst>
            </p:cNvPr>
            <p:cNvSpPr/>
            <p:nvPr/>
          </p:nvSpPr>
          <p:spPr>
            <a:xfrm>
              <a:off x="108461" y="9706705"/>
              <a:ext cx="529032" cy="702202"/>
            </a:xfrm>
            <a:prstGeom prst="ellipse">
              <a:avLst/>
            </a:prstGeom>
            <a:solidFill>
              <a:srgbClr val="4477AA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Neur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6A0D8934-49E5-E3D5-3759-21CA36FFC752}"/>
                </a:ext>
              </a:extLst>
            </p:cNvPr>
            <p:cNvSpPr/>
            <p:nvPr/>
          </p:nvSpPr>
          <p:spPr>
            <a:xfrm>
              <a:off x="658654" y="9706705"/>
              <a:ext cx="529032" cy="702202"/>
            </a:xfrm>
            <a:prstGeom prst="ellipse">
              <a:avLst/>
            </a:prstGeom>
            <a:solidFill>
              <a:srgbClr val="66CCEE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Astro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2B389744-6BEE-746C-DE98-5624BB2E9C28}"/>
                </a:ext>
              </a:extLst>
            </p:cNvPr>
            <p:cNvSpPr/>
            <p:nvPr/>
          </p:nvSpPr>
          <p:spPr>
            <a:xfrm>
              <a:off x="1208847" y="9706705"/>
              <a:ext cx="529032" cy="702202"/>
            </a:xfrm>
            <a:prstGeom prst="ellipse">
              <a:avLst/>
            </a:prstGeom>
            <a:solidFill>
              <a:srgbClr val="228833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Oligo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12A57F1-8328-2846-CE80-214625F16D25}"/>
                </a:ext>
              </a:extLst>
            </p:cNvPr>
            <p:cNvSpPr/>
            <p:nvPr/>
          </p:nvSpPr>
          <p:spPr>
            <a:xfrm>
              <a:off x="1759041" y="9706705"/>
              <a:ext cx="529032" cy="702202"/>
            </a:xfrm>
            <a:prstGeom prst="ellipse">
              <a:avLst/>
            </a:prstGeom>
            <a:solidFill>
              <a:srgbClr val="EE6677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 dirty="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Micro</a:t>
              </a: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22A9145F-D597-E001-8CF1-4681AE2BD006}"/>
                </a:ext>
              </a:extLst>
            </p:cNvPr>
            <p:cNvSpPr/>
            <p:nvPr/>
          </p:nvSpPr>
          <p:spPr>
            <a:xfrm>
              <a:off x="2309234" y="9706705"/>
              <a:ext cx="529032" cy="702202"/>
            </a:xfrm>
            <a:prstGeom prst="ellipse">
              <a:avLst/>
            </a:prstGeom>
            <a:solidFill>
              <a:srgbClr val="AA3377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Endo</a:t>
              </a:r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2AC59E7-CC81-A593-D7AC-5058547D1DDE}"/>
                </a:ext>
              </a:extLst>
            </p:cNvPr>
            <p:cNvSpPr/>
            <p:nvPr/>
          </p:nvSpPr>
          <p:spPr>
            <a:xfrm>
              <a:off x="2859427" y="9706705"/>
              <a:ext cx="529032" cy="702202"/>
            </a:xfrm>
            <a:prstGeom prst="ellipse">
              <a:avLst/>
            </a:prstGeom>
            <a:solidFill>
              <a:srgbClr val="BBBBBB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Peri</a:t>
              </a:r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2479F22C-044C-8865-F3A7-A5A855648DFF}"/>
                </a:ext>
              </a:extLst>
            </p:cNvPr>
            <p:cNvSpPr/>
            <p:nvPr/>
          </p:nvSpPr>
          <p:spPr>
            <a:xfrm>
              <a:off x="3409620" y="9706705"/>
              <a:ext cx="529032" cy="702202"/>
            </a:xfrm>
            <a:prstGeom prst="ellipse">
              <a:avLst/>
            </a:prstGeom>
            <a:solidFill>
              <a:srgbClr val="CCBB44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Tumor</a:t>
              </a:r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292912A1-58E2-9704-0F2B-C8E6FF1B7AFD}"/>
                </a:ext>
              </a:extLst>
            </p:cNvPr>
            <p:cNvSpPr/>
            <p:nvPr/>
          </p:nvSpPr>
          <p:spPr>
            <a:xfrm>
              <a:off x="3959813" y="9706705"/>
              <a:ext cx="529032" cy="702202"/>
            </a:xfrm>
            <a:prstGeom prst="ellipse">
              <a:avLst/>
            </a:prstGeom>
            <a:solidFill>
              <a:srgbClr val="EE8866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222222"/>
                  </a:solidFill>
                  <a:latin typeface="Avenir Next Condensed Medium" panose="020B0506020202020204" pitchFamily="34" charset="0"/>
                </a:rPr>
                <a:t>Imm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5E49975-CFEF-7803-54AD-21432E7B2BBE}"/>
                </a:ext>
              </a:extLst>
            </p:cNvPr>
            <p:cNvSpPr/>
            <p:nvPr/>
          </p:nvSpPr>
          <p:spPr>
            <a:xfrm>
              <a:off x="4510006" y="9706705"/>
              <a:ext cx="529032" cy="702202"/>
            </a:xfrm>
            <a:prstGeom prst="ellipse">
              <a:avLst/>
            </a:prstGeom>
            <a:solidFill>
              <a:srgbClr val="555555"/>
            </a:solidFill>
            <a:ln w="9525">
              <a:solidFill>
                <a:srgbClr val="C8CED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/>
            <a:lstStyle/>
            <a:p>
              <a:pPr algn="ctr"/>
              <a:r>
                <a:rPr sz="800">
                  <a:solidFill>
                    <a:srgbClr val="FFFFFF"/>
                  </a:solidFill>
                  <a:latin typeface="Avenir Next Condensed Medium" panose="020B0506020202020204" pitchFamily="34" charset="0"/>
                </a:rPr>
                <a:t>Necr</a:t>
              </a:r>
            </a:p>
          </p:txBody>
        </p:sp>
      </p:grp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D832D71-46D5-E385-A454-4CC9CC79CA5A}"/>
              </a:ext>
            </a:extLst>
          </p:cNvPr>
          <p:cNvSpPr/>
          <p:nvPr/>
        </p:nvSpPr>
        <p:spPr>
          <a:xfrm>
            <a:off x="5469483" y="5400374"/>
            <a:ext cx="2342222" cy="240951"/>
          </a:xfrm>
          <a:prstGeom prst="roundRect">
            <a:avLst/>
          </a:prstGeom>
          <a:solidFill>
            <a:srgbClr val="0077BB"/>
          </a:solidFill>
          <a:ln w="9525">
            <a:solidFill>
              <a:srgbClr val="0077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 Condensed" panose="020B0506020202020204" pitchFamily="34" charset="0"/>
              </a:rPr>
              <a:t>Phase 1  -  ENVIRONMENT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866024-560C-1222-A034-6B09BD557CD3}"/>
              </a:ext>
            </a:extLst>
          </p:cNvPr>
          <p:cNvSpPr/>
          <p:nvPr/>
        </p:nvSpPr>
        <p:spPr>
          <a:xfrm>
            <a:off x="5469483" y="5688170"/>
            <a:ext cx="2342222" cy="598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Diffusion of O2 / glucose /</a:t>
            </a:r>
          </a:p>
          <a:p>
            <a:pPr algn="ctr"/>
            <a:r>
              <a:rPr sz="10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VEGF / lactate</a:t>
            </a:r>
          </a:p>
          <a:p>
            <a:pPr algn="ctr"/>
            <a:r>
              <a:rPr sz="10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Thomas implicit solver,</a:t>
            </a:r>
          </a:p>
          <a:p>
            <a:pPr algn="ctr"/>
            <a:r>
              <a:rPr sz="10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1 / dt</a:t>
            </a:r>
            <a:r>
              <a:rPr lang="en-US" sz="10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 </a:t>
            </a:r>
            <a:r>
              <a:rPr sz="1000" b="1" dirty="0">
                <a:solidFill>
                  <a:srgbClr val="222222"/>
                </a:solidFill>
                <a:latin typeface="Avenir Next Condensed Demi Bold" panose="020B0506020202020204" pitchFamily="34" charset="0"/>
              </a:rPr>
              <a:t>diffusion sub-steps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4A6988B-5337-12CB-9AD3-FD6B52EA2949}"/>
              </a:ext>
            </a:extLst>
          </p:cNvPr>
          <p:cNvSpPr/>
          <p:nvPr/>
        </p:nvSpPr>
        <p:spPr>
          <a:xfrm>
            <a:off x="7963949" y="5400374"/>
            <a:ext cx="2342222" cy="240951"/>
          </a:xfrm>
          <a:prstGeom prst="roundRect">
            <a:avLst/>
          </a:prstGeom>
          <a:solidFill>
            <a:srgbClr val="3399AA"/>
          </a:solidFill>
          <a:ln w="9525">
            <a:solidFill>
              <a:srgbClr val="339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 Condensed" panose="020B0506020202020204" pitchFamily="34" charset="0"/>
              </a:rPr>
              <a:t>Phase 2  -  CELL BEHAVIORS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468DC73-8AE0-C155-F498-FB24B6B66FFB}"/>
              </a:ext>
            </a:extLst>
          </p:cNvPr>
          <p:cNvSpPr/>
          <p:nvPr/>
        </p:nvSpPr>
        <p:spPr>
          <a:xfrm>
            <a:off x="7963949" y="5688170"/>
            <a:ext cx="2342222" cy="598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Shuffled iteration over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all living cells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(see detail below)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FC101B2-413B-B8A3-41B9-2D7AC15DD36F}"/>
              </a:ext>
            </a:extLst>
          </p:cNvPr>
          <p:cNvSpPr/>
          <p:nvPr/>
        </p:nvSpPr>
        <p:spPr>
          <a:xfrm>
            <a:off x="10458415" y="5400374"/>
            <a:ext cx="2342222" cy="240951"/>
          </a:xfrm>
          <a:prstGeom prst="roundRect">
            <a:avLst/>
          </a:prstGeom>
          <a:solidFill>
            <a:srgbClr val="AA3377"/>
          </a:solidFill>
          <a:ln w="9525">
            <a:solidFill>
              <a:srgbClr val="AA33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 Condensed" panose="020B0506020202020204" pitchFamily="34" charset="0"/>
              </a:rPr>
              <a:t>Phase 3  -  ANGIOGENESIS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D1C48A9D-0807-8977-E2C2-13362CFB60A9}"/>
              </a:ext>
            </a:extLst>
          </p:cNvPr>
          <p:cNvSpPr/>
          <p:nvPr/>
        </p:nvSpPr>
        <p:spPr>
          <a:xfrm>
            <a:off x="10458415" y="5688170"/>
            <a:ext cx="2342222" cy="598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VEGF-driven sprouting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from endothelial cells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Vessel maturation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A9CF543-226E-B27B-D718-9B746546B7BE}"/>
              </a:ext>
            </a:extLst>
          </p:cNvPr>
          <p:cNvSpPr/>
          <p:nvPr/>
        </p:nvSpPr>
        <p:spPr>
          <a:xfrm>
            <a:off x="5469483" y="6398631"/>
            <a:ext cx="2342222" cy="240951"/>
          </a:xfrm>
          <a:prstGeom prst="roundRect">
            <a:avLst/>
          </a:prstGeom>
          <a:solidFill>
            <a:srgbClr val="EE6677"/>
          </a:solidFill>
          <a:ln w="9525">
            <a:solidFill>
              <a:srgbClr val="EE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venir Next Condensed" panose="020B0506020202020204" pitchFamily="34" charset="0"/>
              </a:rPr>
              <a:t>Phase 4  -  IMMUNE RECRUITMENT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C165D1E-C261-5F1E-641E-B060F1652BEE}"/>
              </a:ext>
            </a:extLst>
          </p:cNvPr>
          <p:cNvSpPr/>
          <p:nvPr/>
        </p:nvSpPr>
        <p:spPr>
          <a:xfrm>
            <a:off x="5469483" y="6686427"/>
            <a:ext cx="2342222" cy="598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Spawn immune from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vasculature where VEGF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proxy &gt; threshold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4CD8040-8E1A-C7F4-3439-2EFA945FA4BE}"/>
              </a:ext>
            </a:extLst>
          </p:cNvPr>
          <p:cNvSpPr/>
          <p:nvPr/>
        </p:nvSpPr>
        <p:spPr>
          <a:xfrm>
            <a:off x="7963949" y="6398631"/>
            <a:ext cx="2342222" cy="240951"/>
          </a:xfrm>
          <a:prstGeom prst="roundRect">
            <a:avLst/>
          </a:prstGeom>
          <a:solidFill>
            <a:srgbClr val="BBBBBB"/>
          </a:solidFill>
          <a:ln w="9525">
            <a:solidFill>
              <a:srgbClr val="BBBB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 Condensed" panose="020B0506020202020204" pitchFamily="34" charset="0"/>
              </a:rPr>
              <a:t>Phase 5  -  CLEANUP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47CE3EF-6C69-E31D-ABA6-CE8AA5A50110}"/>
              </a:ext>
            </a:extLst>
          </p:cNvPr>
          <p:cNvSpPr/>
          <p:nvPr/>
        </p:nvSpPr>
        <p:spPr>
          <a:xfrm>
            <a:off x="7963949" y="6686427"/>
            <a:ext cx="2342222" cy="598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Lyse necrotic cells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Update spatial hash /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occupancy index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6F9F59A-8FCB-B99E-41FA-9D7231EAB3A8}"/>
              </a:ext>
            </a:extLst>
          </p:cNvPr>
          <p:cNvSpPr/>
          <p:nvPr/>
        </p:nvSpPr>
        <p:spPr>
          <a:xfrm>
            <a:off x="10458415" y="6398631"/>
            <a:ext cx="2342222" cy="240951"/>
          </a:xfrm>
          <a:prstGeom prst="roundRect">
            <a:avLst/>
          </a:prstGeom>
          <a:solidFill>
            <a:srgbClr val="228833"/>
          </a:solidFill>
          <a:ln w="9525">
            <a:solidFill>
              <a:srgbClr val="2288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venir Next Condensed" panose="020B0506020202020204" pitchFamily="34" charset="0"/>
              </a:rPr>
              <a:t>Phase 6  -  OUTPUT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BE68A19-1636-A961-BF91-2073111229F2}"/>
              </a:ext>
            </a:extLst>
          </p:cNvPr>
          <p:cNvSpPr/>
          <p:nvPr/>
        </p:nvSpPr>
        <p:spPr>
          <a:xfrm>
            <a:off x="10458415" y="6686427"/>
            <a:ext cx="2342222" cy="598775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8CE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000" tIns="18000" rIns="36000" bIns="18000" rtlCol="0" anchor="ctr"/>
          <a:lstStyle/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Write cells / env TSV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Append lineage.tsv</a:t>
            </a:r>
          </a:p>
          <a:p>
            <a:pPr algn="ctr"/>
            <a:r>
              <a:rPr sz="1000" b="1">
                <a:solidFill>
                  <a:srgbClr val="222222"/>
                </a:solidFill>
                <a:latin typeface="Avenir Next Condensed Demi Bold" panose="020B0506020202020204" pitchFamily="34" charset="0"/>
              </a:rPr>
              <a:t>Progress log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44C286C-BA04-8B69-71D3-306E138C0E60}"/>
              </a:ext>
            </a:extLst>
          </p:cNvPr>
          <p:cNvSpPr txBox="1"/>
          <p:nvPr/>
        </p:nvSpPr>
        <p:spPr>
          <a:xfrm>
            <a:off x="6274208" y="5094708"/>
            <a:ext cx="5504221" cy="221018"/>
          </a:xfrm>
          <a:prstGeom prst="rect">
            <a:avLst/>
          </a:prstGeom>
          <a:noFill/>
        </p:spPr>
        <p:txBody>
          <a:bodyPr wrap="square" lIns="36000" tIns="18000" rIns="36000" bIns="18000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0077BB"/>
                </a:solidFill>
                <a:latin typeface="Calibri"/>
              </a:rPr>
              <a:t>B. Per-hour Simulation</a:t>
            </a:r>
            <a:endParaRPr sz="1200" b="1" dirty="0">
              <a:solidFill>
                <a:srgbClr val="0077BB"/>
              </a:solidFill>
              <a:latin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160D67F-C384-E127-3B67-081C1C27076A}"/>
              </a:ext>
            </a:extLst>
          </p:cNvPr>
          <p:cNvGrpSpPr/>
          <p:nvPr/>
        </p:nvGrpSpPr>
        <p:grpSpPr>
          <a:xfrm>
            <a:off x="5819381" y="7409005"/>
            <a:ext cx="6617929" cy="2297700"/>
            <a:chOff x="5819381" y="7399539"/>
            <a:chExt cx="6617929" cy="3382445"/>
          </a:xfrm>
        </p:grpSpPr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17D83D3-7769-5D29-A78D-6E6A27E11C25}"/>
                </a:ext>
              </a:extLst>
            </p:cNvPr>
            <p:cNvSpPr/>
            <p:nvPr/>
          </p:nvSpPr>
          <p:spPr>
            <a:xfrm>
              <a:off x="7698377" y="7969870"/>
              <a:ext cx="2603809" cy="2812114"/>
            </a:xfrm>
            <a:prstGeom prst="ellipse">
              <a:avLst/>
            </a:prstGeom>
            <a:solidFill>
              <a:srgbClr val="FDF7DA"/>
            </a:solidFill>
            <a:ln w="25400">
              <a:solidFill>
                <a:srgbClr val="CCBB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400">
                <a:latin typeface="Avenir Next Condensed Medium" panose="020B0506020202020204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71DC0AC-82E9-83F7-D418-18111F6AF72C}"/>
                </a:ext>
              </a:extLst>
            </p:cNvPr>
            <p:cNvSpPr txBox="1"/>
            <p:nvPr/>
          </p:nvSpPr>
          <p:spPr>
            <a:xfrm>
              <a:off x="8167063" y="7399539"/>
              <a:ext cx="2291352" cy="280052"/>
            </a:xfrm>
            <a:prstGeom prst="rect">
              <a:avLst/>
            </a:prstGeom>
            <a:noFill/>
          </p:spPr>
          <p:txBody>
            <a:bodyPr wrap="square" lIns="36000" tIns="18000" rIns="36000" bIns="18000" anchor="ctr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CCBB44"/>
                  </a:solidFill>
                  <a:latin typeface="Avenir Next Condensed" panose="020B0506020202020204" pitchFamily="34" charset="0"/>
                </a:rPr>
                <a:t>C. </a:t>
              </a:r>
              <a:r>
                <a:rPr sz="1000" b="1" dirty="0">
                  <a:solidFill>
                    <a:srgbClr val="CCBB44"/>
                  </a:solidFill>
                  <a:latin typeface="Avenir Next Condensed" panose="020B0506020202020204" pitchFamily="34" charset="0"/>
                </a:rPr>
                <a:t>Tumor cell  (state vector)</a:t>
              </a:r>
            </a:p>
          </p:txBody>
        </p:sp>
        <p:sp>
          <p:nvSpPr>
            <p:cNvPr id="54" name="Rounded Rectangle 53">
              <a:extLst>
                <a:ext uri="{FF2B5EF4-FFF2-40B4-BE49-F238E27FC236}">
                  <a16:creationId xmlns:a16="http://schemas.microsoft.com/office/drawing/2014/main" id="{15D39F03-2182-77B0-3543-BD83B80E6DFE}"/>
                </a:ext>
              </a:extLst>
            </p:cNvPr>
            <p:cNvSpPr/>
            <p:nvPr/>
          </p:nvSpPr>
          <p:spPr>
            <a:xfrm>
              <a:off x="8219139" y="8412518"/>
              <a:ext cx="781143" cy="260381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EE77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>
                  <a:solidFill>
                    <a:srgbClr val="EE7733"/>
                  </a:solidFill>
                  <a:latin typeface="Avenir Next Condensed Medium" panose="020B0506020202020204" pitchFamily="34" charset="0"/>
                </a:rPr>
                <a:t>ecDNA</a:t>
              </a:r>
            </a:p>
          </p:txBody>
        </p:sp>
        <p:sp>
          <p:nvSpPr>
            <p:cNvPr id="55" name="Rounded Rectangle 54">
              <a:extLst>
                <a:ext uri="{FF2B5EF4-FFF2-40B4-BE49-F238E27FC236}">
                  <a16:creationId xmlns:a16="http://schemas.microsoft.com/office/drawing/2014/main" id="{06C40DCC-3092-E9B1-4C77-64B6644AB880}"/>
                </a:ext>
              </a:extLst>
            </p:cNvPr>
            <p:cNvSpPr/>
            <p:nvPr/>
          </p:nvSpPr>
          <p:spPr>
            <a:xfrm>
              <a:off x="9312739" y="8412518"/>
              <a:ext cx="781143" cy="260381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EE77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 dirty="0">
                  <a:solidFill>
                    <a:srgbClr val="EE7733"/>
                  </a:solidFill>
                  <a:latin typeface="Avenir Next Condensed Medium" panose="020B0506020202020204" pitchFamily="34" charset="0"/>
                </a:rPr>
                <a:t>EGFR</a:t>
              </a:r>
            </a:p>
          </p:txBody>
        </p:sp>
        <p:sp>
          <p:nvSpPr>
            <p:cNvPr id="56" name="Rounded Rectangle 55">
              <a:extLst>
                <a:ext uri="{FF2B5EF4-FFF2-40B4-BE49-F238E27FC236}">
                  <a16:creationId xmlns:a16="http://schemas.microsoft.com/office/drawing/2014/main" id="{1E9D4410-3718-8010-C305-A26C4988187B}"/>
                </a:ext>
              </a:extLst>
            </p:cNvPr>
            <p:cNvSpPr/>
            <p:nvPr/>
          </p:nvSpPr>
          <p:spPr>
            <a:xfrm>
              <a:off x="8088948" y="9037431"/>
              <a:ext cx="781143" cy="260381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55555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>
                  <a:solidFill>
                    <a:srgbClr val="555555"/>
                  </a:solidFill>
                  <a:latin typeface="Avenir Next Condensed Medium" panose="020B0506020202020204" pitchFamily="34" charset="0"/>
                </a:rPr>
                <a:t>HIF</a:t>
              </a:r>
            </a:p>
          </p:txBody>
        </p:sp>
        <p:sp>
          <p:nvSpPr>
            <p:cNvPr id="57" name="Rounded Rectangle 56">
              <a:extLst>
                <a:ext uri="{FF2B5EF4-FFF2-40B4-BE49-F238E27FC236}">
                  <a16:creationId xmlns:a16="http://schemas.microsoft.com/office/drawing/2014/main" id="{7F181A1A-0689-25E6-F977-2DC924D5A90A}"/>
                </a:ext>
              </a:extLst>
            </p:cNvPr>
            <p:cNvSpPr/>
            <p:nvPr/>
          </p:nvSpPr>
          <p:spPr>
            <a:xfrm>
              <a:off x="9000282" y="8948338"/>
              <a:ext cx="1152263" cy="349474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2288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 dirty="0">
                  <a:solidFill>
                    <a:srgbClr val="228833"/>
                  </a:solidFill>
                  <a:latin typeface="Avenir Next Condensed Medium" panose="020B0506020202020204" pitchFamily="34" charset="0"/>
                </a:rPr>
                <a:t>VEGF secretion</a:t>
              </a:r>
            </a:p>
          </p:txBody>
        </p:sp>
        <p:sp>
          <p:nvSpPr>
            <p:cNvPr id="58" name="Rounded Rectangle 57">
              <a:extLst>
                <a:ext uri="{FF2B5EF4-FFF2-40B4-BE49-F238E27FC236}">
                  <a16:creationId xmlns:a16="http://schemas.microsoft.com/office/drawing/2014/main" id="{AFE7FB5A-6EE7-78CE-FC42-875006291DAE}"/>
                </a:ext>
              </a:extLst>
            </p:cNvPr>
            <p:cNvSpPr/>
            <p:nvPr/>
          </p:nvSpPr>
          <p:spPr>
            <a:xfrm>
              <a:off x="7984796" y="9630975"/>
              <a:ext cx="781143" cy="260381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3399A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>
                  <a:solidFill>
                    <a:srgbClr val="3399AA"/>
                  </a:solidFill>
                  <a:latin typeface="Avenir Next Condensed Medium" panose="020B0506020202020204" pitchFamily="34" charset="0"/>
                </a:rPr>
                <a:t>migration</a:t>
              </a:r>
            </a:p>
          </p:txBody>
        </p:sp>
        <p:sp>
          <p:nvSpPr>
            <p:cNvPr id="59" name="Rounded Rectangle 58">
              <a:extLst>
                <a:ext uri="{FF2B5EF4-FFF2-40B4-BE49-F238E27FC236}">
                  <a16:creationId xmlns:a16="http://schemas.microsoft.com/office/drawing/2014/main" id="{9402F217-AE8E-7D13-49F7-5451BD01EFAE}"/>
                </a:ext>
              </a:extLst>
            </p:cNvPr>
            <p:cNvSpPr/>
            <p:nvPr/>
          </p:nvSpPr>
          <p:spPr>
            <a:xfrm>
              <a:off x="8635748" y="10349752"/>
              <a:ext cx="781143" cy="260381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AA33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>
                  <a:solidFill>
                    <a:srgbClr val="AA3377"/>
                  </a:solidFill>
                  <a:latin typeface="Avenir Next Condensed Medium" panose="020B0506020202020204" pitchFamily="34" charset="0"/>
                </a:rPr>
                <a:t>division rate</a:t>
              </a:r>
            </a:p>
          </p:txBody>
        </p:sp>
        <p:sp>
          <p:nvSpPr>
            <p:cNvPr id="60" name="Rounded Rectangle 59">
              <a:extLst>
                <a:ext uri="{FF2B5EF4-FFF2-40B4-BE49-F238E27FC236}">
                  <a16:creationId xmlns:a16="http://schemas.microsoft.com/office/drawing/2014/main" id="{BC687457-CFF3-FC06-2A14-EC9B65D13D7B}"/>
                </a:ext>
              </a:extLst>
            </p:cNvPr>
            <p:cNvSpPr/>
            <p:nvPr/>
          </p:nvSpPr>
          <p:spPr>
            <a:xfrm>
              <a:off x="9260506" y="9761166"/>
              <a:ext cx="781143" cy="260381"/>
            </a:xfrm>
            <a:prstGeom prst="roundRect">
              <a:avLst/>
            </a:prstGeom>
            <a:solidFill>
              <a:srgbClr val="FFFFFF"/>
            </a:solidFill>
            <a:ln w="25400">
              <a:solidFill>
                <a:srgbClr val="EE66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>
                  <a:solidFill>
                    <a:srgbClr val="EE6677"/>
                  </a:solidFill>
                  <a:latin typeface="Avenir Next Condensed Medium" panose="020B0506020202020204" pitchFamily="34" charset="0"/>
                </a:rPr>
                <a:t>survival</a:t>
              </a:r>
            </a:p>
          </p:txBody>
        </p:sp>
        <p:sp>
          <p:nvSpPr>
            <p:cNvPr id="61" name="Rounded Rectangle 60">
              <a:extLst>
                <a:ext uri="{FF2B5EF4-FFF2-40B4-BE49-F238E27FC236}">
                  <a16:creationId xmlns:a16="http://schemas.microsoft.com/office/drawing/2014/main" id="{38733B09-0BFA-1CB4-1B92-BF1544EBDCB2}"/>
                </a:ext>
              </a:extLst>
            </p:cNvPr>
            <p:cNvSpPr/>
            <p:nvPr/>
          </p:nvSpPr>
          <p:spPr>
            <a:xfrm>
              <a:off x="5823634" y="8777051"/>
              <a:ext cx="1249829" cy="364533"/>
            </a:xfrm>
            <a:prstGeom prst="roundRect">
              <a:avLst/>
            </a:prstGeom>
            <a:solidFill>
              <a:srgbClr val="E3EEF7"/>
            </a:solidFill>
            <a:ln w="9525">
              <a:solidFill>
                <a:srgbClr val="0077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1000" dirty="0">
                  <a:solidFill>
                    <a:srgbClr val="0077BB"/>
                  </a:solidFill>
                  <a:latin typeface="Avenir Next Condensed Medium" panose="020B0506020202020204" pitchFamily="34" charset="0"/>
                </a:rPr>
                <a:t>O2_local</a:t>
              </a:r>
            </a:p>
            <a:p>
              <a:pPr algn="ctr"/>
              <a:r>
                <a:rPr sz="1000" dirty="0">
                  <a:solidFill>
                    <a:srgbClr val="0077BB"/>
                  </a:solidFill>
                  <a:latin typeface="Avenir Next Condensed Medium" panose="020B0506020202020204" pitchFamily="34" charset="0"/>
                </a:rPr>
                <a:t>(env grid sample)</a:t>
              </a:r>
            </a:p>
          </p:txBody>
        </p:sp>
        <p:cxnSp>
          <p:nvCxnSpPr>
            <p:cNvPr id="62" name="Connector 27">
              <a:extLst>
                <a:ext uri="{FF2B5EF4-FFF2-40B4-BE49-F238E27FC236}">
                  <a16:creationId xmlns:a16="http://schemas.microsoft.com/office/drawing/2014/main" id="{E7FC0B53-F736-B757-9252-8FCDDBC228AB}"/>
                </a:ext>
              </a:extLst>
            </p:cNvPr>
            <p:cNvCxnSpPr>
              <a:cxnSpLocks/>
              <a:endCxn id="56" idx="1"/>
            </p:cNvCxnSpPr>
            <p:nvPr/>
          </p:nvCxnSpPr>
          <p:spPr>
            <a:xfrm>
              <a:off x="7073463" y="8959318"/>
              <a:ext cx="1015486" cy="208304"/>
            </a:xfrm>
            <a:prstGeom prst="line">
              <a:avLst/>
            </a:prstGeom>
            <a:ln w="25400">
              <a:solidFill>
                <a:srgbClr val="0077BB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or 29">
              <a:extLst>
                <a:ext uri="{FF2B5EF4-FFF2-40B4-BE49-F238E27FC236}">
                  <a16:creationId xmlns:a16="http://schemas.microsoft.com/office/drawing/2014/main" id="{199F202A-6F95-C642-8AAC-079CB1C28C7B}"/>
                </a:ext>
              </a:extLst>
            </p:cNvPr>
            <p:cNvCxnSpPr>
              <a:cxnSpLocks/>
              <a:endCxn id="58" idx="1"/>
            </p:cNvCxnSpPr>
            <p:nvPr/>
          </p:nvCxnSpPr>
          <p:spPr>
            <a:xfrm>
              <a:off x="7073463" y="9037431"/>
              <a:ext cx="911333" cy="723734"/>
            </a:xfrm>
            <a:prstGeom prst="line">
              <a:avLst/>
            </a:prstGeom>
            <a:ln w="19050">
              <a:solidFill>
                <a:srgbClr val="0077BB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ounded Rectangle 63">
              <a:extLst>
                <a:ext uri="{FF2B5EF4-FFF2-40B4-BE49-F238E27FC236}">
                  <a16:creationId xmlns:a16="http://schemas.microsoft.com/office/drawing/2014/main" id="{BF916EE9-71DC-6D14-6BB4-2C12374A9EF3}"/>
                </a:ext>
              </a:extLst>
            </p:cNvPr>
            <p:cNvSpPr/>
            <p:nvPr/>
          </p:nvSpPr>
          <p:spPr>
            <a:xfrm>
              <a:off x="10614643" y="7818101"/>
              <a:ext cx="1822667" cy="668299"/>
            </a:xfrm>
            <a:prstGeom prst="roundRect">
              <a:avLst/>
            </a:prstGeom>
            <a:solidFill>
              <a:srgbClr val="E6F2E6"/>
            </a:solidFill>
            <a:ln w="9525">
              <a:solidFill>
                <a:srgbClr val="2288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800" dirty="0">
                  <a:solidFill>
                    <a:srgbClr val="228833"/>
                  </a:solidFill>
                  <a:latin typeface="Avenir Next Condensed Medium" panose="020B0506020202020204" pitchFamily="34" charset="0"/>
                </a:rPr>
                <a:t>VEGF field (env)</a:t>
              </a:r>
            </a:p>
            <a:p>
              <a:pPr algn="ctr"/>
              <a:r>
                <a:rPr sz="800" dirty="0">
                  <a:solidFill>
                    <a:srgbClr val="228833"/>
                  </a:solidFill>
                  <a:latin typeface="Avenir Next Condensed Medium" panose="020B0506020202020204" pitchFamily="34" charset="0"/>
                </a:rPr>
                <a:t>diffusion + decay,</a:t>
              </a:r>
            </a:p>
            <a:p>
              <a:pPr algn="ctr"/>
              <a:r>
                <a:rPr sz="800" dirty="0">
                  <a:solidFill>
                    <a:srgbClr val="228833"/>
                  </a:solidFill>
                  <a:latin typeface="Avenir Next Condensed Medium" panose="020B0506020202020204" pitchFamily="34" charset="0"/>
                </a:rPr>
                <a:t>source = tumor secretion</a:t>
              </a:r>
            </a:p>
          </p:txBody>
        </p:sp>
        <p:cxnSp>
          <p:nvCxnSpPr>
            <p:cNvPr id="65" name="Connector 31">
              <a:extLst>
                <a:ext uri="{FF2B5EF4-FFF2-40B4-BE49-F238E27FC236}">
                  <a16:creationId xmlns:a16="http://schemas.microsoft.com/office/drawing/2014/main" id="{6ABB0B1B-9F1A-839D-08A8-D46CBE6AC72C}"/>
                </a:ext>
              </a:extLst>
            </p:cNvPr>
            <p:cNvCxnSpPr>
              <a:cxnSpLocks/>
              <a:stCxn id="57" idx="3"/>
              <a:endCxn id="64" idx="1"/>
            </p:cNvCxnSpPr>
            <p:nvPr/>
          </p:nvCxnSpPr>
          <p:spPr>
            <a:xfrm flipV="1">
              <a:off x="10152545" y="8152251"/>
              <a:ext cx="462098" cy="970824"/>
            </a:xfrm>
            <a:prstGeom prst="line">
              <a:avLst/>
            </a:prstGeom>
            <a:ln w="25400">
              <a:solidFill>
                <a:srgbClr val="228833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Rounded Rectangle 65">
              <a:extLst>
                <a:ext uri="{FF2B5EF4-FFF2-40B4-BE49-F238E27FC236}">
                  <a16:creationId xmlns:a16="http://schemas.microsoft.com/office/drawing/2014/main" id="{DDB13D6D-207C-8E8E-140B-12A21B6F0F61}"/>
                </a:ext>
              </a:extLst>
            </p:cNvPr>
            <p:cNvSpPr/>
            <p:nvPr/>
          </p:nvSpPr>
          <p:spPr>
            <a:xfrm>
              <a:off x="10614643" y="8855164"/>
              <a:ext cx="1822667" cy="515429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AA33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800" dirty="0">
                  <a:solidFill>
                    <a:srgbClr val="AA3377"/>
                  </a:solidFill>
                  <a:latin typeface="Avenir Next Condensed Medium" panose="020B0506020202020204" pitchFamily="34" charset="0"/>
                </a:rPr>
                <a:t>Angiogenesis</a:t>
              </a:r>
            </a:p>
            <a:p>
              <a:pPr algn="ctr"/>
              <a:r>
                <a:rPr sz="800" dirty="0">
                  <a:solidFill>
                    <a:srgbClr val="AA3377"/>
                  </a:solidFill>
                  <a:latin typeface="Avenir Next Condensed Medium" panose="020B0506020202020204" pitchFamily="34" charset="0"/>
                </a:rPr>
                <a:t>(Phase 3): sprouting if</a:t>
              </a:r>
            </a:p>
            <a:p>
              <a:pPr algn="ctr"/>
              <a:r>
                <a:rPr sz="800" dirty="0">
                  <a:solidFill>
                    <a:srgbClr val="AA3377"/>
                  </a:solidFill>
                  <a:latin typeface="Avenir Next Condensed Medium" panose="020B0506020202020204" pitchFamily="34" charset="0"/>
                </a:rPr>
                <a:t>VEGF &gt; threshold</a:t>
              </a:r>
            </a:p>
          </p:txBody>
        </p:sp>
        <p:cxnSp>
          <p:nvCxnSpPr>
            <p:cNvPr id="67" name="Connector 33">
              <a:extLst>
                <a:ext uri="{FF2B5EF4-FFF2-40B4-BE49-F238E27FC236}">
                  <a16:creationId xmlns:a16="http://schemas.microsoft.com/office/drawing/2014/main" id="{4219DDD0-F87F-E13E-E17D-0D6C4F11D546}"/>
                </a:ext>
              </a:extLst>
            </p:cNvPr>
            <p:cNvCxnSpPr>
              <a:cxnSpLocks/>
              <a:stCxn id="64" idx="2"/>
            </p:cNvCxnSpPr>
            <p:nvPr/>
          </p:nvCxnSpPr>
          <p:spPr>
            <a:xfrm>
              <a:off x="11525977" y="8486400"/>
              <a:ext cx="0" cy="368765"/>
            </a:xfrm>
            <a:prstGeom prst="line">
              <a:avLst/>
            </a:prstGeom>
            <a:ln w="19050">
              <a:solidFill>
                <a:srgbClr val="AA3377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Rounded Rectangle 67">
              <a:extLst>
                <a:ext uri="{FF2B5EF4-FFF2-40B4-BE49-F238E27FC236}">
                  <a16:creationId xmlns:a16="http://schemas.microsoft.com/office/drawing/2014/main" id="{E149AE20-988E-5C46-21AD-EEACB3EC7A17}"/>
                </a:ext>
              </a:extLst>
            </p:cNvPr>
            <p:cNvSpPr/>
            <p:nvPr/>
          </p:nvSpPr>
          <p:spPr>
            <a:xfrm>
              <a:off x="5819381" y="7765563"/>
              <a:ext cx="1969345" cy="548136"/>
            </a:xfrm>
            <a:prstGeom prst="roundRect">
              <a:avLst/>
            </a:prstGeom>
            <a:solidFill>
              <a:srgbClr val="FBEBDD"/>
            </a:solidFill>
            <a:ln w="9525">
              <a:solidFill>
                <a:srgbClr val="EE773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800" dirty="0">
                  <a:solidFill>
                    <a:srgbClr val="EE7733"/>
                  </a:solidFill>
                  <a:latin typeface="Avenir Next Condensed Medium" panose="020B0506020202020204" pitchFamily="34" charset="0"/>
                </a:rPr>
                <a:t>Mitosis event</a:t>
              </a:r>
            </a:p>
            <a:p>
              <a:pPr algn="ctr"/>
              <a:r>
                <a:rPr sz="800" dirty="0">
                  <a:solidFill>
                    <a:srgbClr val="EE7733"/>
                  </a:solidFill>
                  <a:latin typeface="Avenir Next Condensed Medium" panose="020B0506020202020204" pitchFamily="34" charset="0"/>
                </a:rPr>
                <a:t>Binomial(N, 0.5) split of</a:t>
              </a:r>
            </a:p>
            <a:p>
              <a:pPr algn="ctr"/>
              <a:r>
                <a:rPr sz="800" dirty="0">
                  <a:solidFill>
                    <a:srgbClr val="EE7733"/>
                  </a:solidFill>
                  <a:latin typeface="Avenir Next Condensed Medium" panose="020B0506020202020204" pitchFamily="34" charset="0"/>
                </a:rPr>
                <a:t>parent ecDNA to daughters</a:t>
              </a:r>
            </a:p>
          </p:txBody>
        </p:sp>
        <p:cxnSp>
          <p:nvCxnSpPr>
            <p:cNvPr id="69" name="Connector 35">
              <a:extLst>
                <a:ext uri="{FF2B5EF4-FFF2-40B4-BE49-F238E27FC236}">
                  <a16:creationId xmlns:a16="http://schemas.microsoft.com/office/drawing/2014/main" id="{B37E3377-D501-0DE9-F323-A0F307FA7741}"/>
                </a:ext>
              </a:extLst>
            </p:cNvPr>
            <p:cNvCxnSpPr>
              <a:cxnSpLocks/>
              <a:stCxn id="68" idx="3"/>
            </p:cNvCxnSpPr>
            <p:nvPr/>
          </p:nvCxnSpPr>
          <p:spPr>
            <a:xfrm>
              <a:off x="7788726" y="8039631"/>
              <a:ext cx="430413" cy="477039"/>
            </a:xfrm>
            <a:prstGeom prst="line">
              <a:avLst/>
            </a:prstGeom>
            <a:ln w="25400">
              <a:solidFill>
                <a:srgbClr val="EE7733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Rounded Rectangle 69">
              <a:extLst>
                <a:ext uri="{FF2B5EF4-FFF2-40B4-BE49-F238E27FC236}">
                  <a16:creationId xmlns:a16="http://schemas.microsoft.com/office/drawing/2014/main" id="{FCA599BE-74E1-1529-2150-7B601EAA52B2}"/>
                </a:ext>
              </a:extLst>
            </p:cNvPr>
            <p:cNvSpPr/>
            <p:nvPr/>
          </p:nvSpPr>
          <p:spPr>
            <a:xfrm>
              <a:off x="10614643" y="9454041"/>
              <a:ext cx="1822667" cy="567506"/>
            </a:xfrm>
            <a:prstGeom prst="roundRect">
              <a:avLst/>
            </a:prstGeom>
            <a:solidFill>
              <a:srgbClr val="FDF7DA"/>
            </a:solidFill>
            <a:ln w="9525">
              <a:solidFill>
                <a:srgbClr val="CCBB4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800" dirty="0">
                  <a:solidFill>
                    <a:srgbClr val="CCBB44"/>
                  </a:solidFill>
                  <a:latin typeface="Avenir Next Condensed Medium" panose="020B0506020202020204" pitchFamily="34" charset="0"/>
                </a:rPr>
                <a:t>Daughter tumor cells</a:t>
              </a:r>
            </a:p>
          </p:txBody>
        </p:sp>
        <p:cxnSp>
          <p:nvCxnSpPr>
            <p:cNvPr id="71" name="Connector 38">
              <a:extLst>
                <a:ext uri="{FF2B5EF4-FFF2-40B4-BE49-F238E27FC236}">
                  <a16:creationId xmlns:a16="http://schemas.microsoft.com/office/drawing/2014/main" id="{89DA1052-9085-57AC-F9BE-EF721CBC4AF2}"/>
                </a:ext>
              </a:extLst>
            </p:cNvPr>
            <p:cNvCxnSpPr>
              <a:cxnSpLocks/>
              <a:stCxn id="52" idx="6"/>
            </p:cNvCxnSpPr>
            <p:nvPr/>
          </p:nvCxnSpPr>
          <p:spPr>
            <a:xfrm>
              <a:off x="10302186" y="9375927"/>
              <a:ext cx="338495" cy="286419"/>
            </a:xfrm>
            <a:prstGeom prst="line">
              <a:avLst/>
            </a:prstGeom>
            <a:ln w="25400">
              <a:solidFill>
                <a:srgbClr val="CCBB44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Rounded Rectangle 71">
              <a:extLst>
                <a:ext uri="{FF2B5EF4-FFF2-40B4-BE49-F238E27FC236}">
                  <a16:creationId xmlns:a16="http://schemas.microsoft.com/office/drawing/2014/main" id="{C9B14F32-502F-0DCF-DDB6-BD7B6F85C63D}"/>
                </a:ext>
              </a:extLst>
            </p:cNvPr>
            <p:cNvSpPr/>
            <p:nvPr/>
          </p:nvSpPr>
          <p:spPr>
            <a:xfrm>
              <a:off x="10614643" y="10026879"/>
              <a:ext cx="1822667" cy="583254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EE667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36000" tIns="18000" rIns="36000" bIns="18000" rtlCol="0" anchor="ctr"/>
            <a:lstStyle/>
            <a:p>
              <a:pPr algn="ctr"/>
              <a:r>
                <a:rPr sz="800" dirty="0">
                  <a:solidFill>
                    <a:srgbClr val="EE6677"/>
                  </a:solidFill>
                  <a:latin typeface="Avenir Next Condensed Medium" panose="020B0506020202020204" pitchFamily="34" charset="0"/>
                </a:rPr>
                <a:t>Apoptosis / necrosis sink</a:t>
              </a:r>
            </a:p>
            <a:p>
              <a:pPr algn="ctr"/>
              <a:r>
                <a:rPr sz="800" dirty="0">
                  <a:solidFill>
                    <a:srgbClr val="EE6677"/>
                  </a:solidFill>
                  <a:latin typeface="Avenir Next Condensed Medium" panose="020B0506020202020204" pitchFamily="34" charset="0"/>
                </a:rPr>
                <a:t>hypoxia x multiplier</a:t>
              </a:r>
            </a:p>
            <a:p>
              <a:pPr algn="ctr"/>
              <a:r>
                <a:rPr sz="800" dirty="0">
                  <a:solidFill>
                    <a:srgbClr val="EE6677"/>
                  </a:solidFill>
                  <a:latin typeface="Avenir Next Condensed Medium" panose="020B0506020202020204" pitchFamily="34" charset="0"/>
                </a:rPr>
                <a:t>lysed in Phase 5</a:t>
              </a:r>
            </a:p>
          </p:txBody>
        </p:sp>
        <p:cxnSp>
          <p:nvCxnSpPr>
            <p:cNvPr id="73" name="Connector 40">
              <a:extLst>
                <a:ext uri="{FF2B5EF4-FFF2-40B4-BE49-F238E27FC236}">
                  <a16:creationId xmlns:a16="http://schemas.microsoft.com/office/drawing/2014/main" id="{97E2BD2B-58C0-972F-B469-0DD6E9624113}"/>
                </a:ext>
              </a:extLst>
            </p:cNvPr>
            <p:cNvCxnSpPr>
              <a:cxnSpLocks/>
              <a:stCxn id="60" idx="3"/>
            </p:cNvCxnSpPr>
            <p:nvPr/>
          </p:nvCxnSpPr>
          <p:spPr>
            <a:xfrm>
              <a:off x="10041649" y="9891356"/>
              <a:ext cx="599033" cy="369866"/>
            </a:xfrm>
            <a:prstGeom prst="line">
              <a:avLst/>
            </a:prstGeom>
            <a:ln w="25400">
              <a:solidFill>
                <a:srgbClr val="EE6677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53359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6607</TotalTime>
  <Words>332</Words>
  <Application>Microsoft Macintosh PowerPoint</Application>
  <PresentationFormat>Custom</PresentationFormat>
  <Paragraphs>92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Aptos</vt:lpstr>
      <vt:lpstr>Aptos Display</vt:lpstr>
      <vt:lpstr>Arial</vt:lpstr>
      <vt:lpstr>Avenir Next Condensed</vt:lpstr>
      <vt:lpstr>Avenir Next Condensed Demi Bold</vt:lpstr>
      <vt:lpstr>Avenir Next Condensed Medium</vt:lpstr>
      <vt:lpstr>Calibri</vt:lpstr>
      <vt:lpstr>Symbol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Craig</dc:creator>
  <cp:lastModifiedBy>David Craig</cp:lastModifiedBy>
  <cp:revision>10</cp:revision>
  <dcterms:created xsi:type="dcterms:W3CDTF">2026-04-30T00:09:52Z</dcterms:created>
  <dcterms:modified xsi:type="dcterms:W3CDTF">2026-06-01T18:12:05Z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9c3695e-5069-48a6-8b9d-791a4b61946e_Enabled">
    <vt:lpwstr>true</vt:lpwstr>
  </property>
  <property fmtid="{D5CDD505-2E9C-101B-9397-08002B2CF9AE}" pid="3" name="MSIP_Label_a9c3695e-5069-48a6-8b9d-791a4b61946e_SetDate">
    <vt:lpwstr>2026-04-30T00:26:35Z</vt:lpwstr>
  </property>
  <property fmtid="{D5CDD505-2E9C-101B-9397-08002B2CF9AE}" pid="4" name="MSIP_Label_a9c3695e-5069-48a6-8b9d-791a4b61946e_Method">
    <vt:lpwstr>Standard</vt:lpwstr>
  </property>
  <property fmtid="{D5CDD505-2E9C-101B-9397-08002B2CF9AE}" pid="5" name="MSIP_Label_a9c3695e-5069-48a6-8b9d-791a4b61946e_Name">
    <vt:lpwstr>Internal</vt:lpwstr>
  </property>
  <property fmtid="{D5CDD505-2E9C-101B-9397-08002B2CF9AE}" pid="6" name="MSIP_Label_a9c3695e-5069-48a6-8b9d-791a4b61946e_SiteId">
    <vt:lpwstr>972a3ea3-f979-4875-a2b8-cff001ab69e7</vt:lpwstr>
  </property>
  <property fmtid="{D5CDD505-2E9C-101B-9397-08002B2CF9AE}" pid="7" name="MSIP_Label_a9c3695e-5069-48a6-8b9d-791a4b61946e_ActionId">
    <vt:lpwstr>a44ed36b-9fa3-4f66-a10f-62d1ba7c5584</vt:lpwstr>
  </property>
  <property fmtid="{D5CDD505-2E9C-101B-9397-08002B2CF9AE}" pid="8" name="MSIP_Label_a9c3695e-5069-48a6-8b9d-791a4b61946e_ContentBits">
    <vt:lpwstr>0</vt:lpwstr>
  </property>
  <property fmtid="{D5CDD505-2E9C-101B-9397-08002B2CF9AE}" pid="9" name="MSIP_Label_a9c3695e-5069-48a6-8b9d-791a4b61946e_Tag">
    <vt:lpwstr>50, 3, 0, 1</vt:lpwstr>
  </property>
</Properties>
</file>