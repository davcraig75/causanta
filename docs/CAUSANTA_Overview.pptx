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7BB"/>
                </a:solidFill>
              </a:defRPr>
            </a:pPr>
            <a:r>
              <a:t>CAUSANTA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Causal Analysis Using Somatic And Neighborhood Tissue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Simulation framework for benchmarking causal inference in spatial biology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Generates synthetic tumor tissue with known ground-truth causal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Key innovation: ecDNA segregation as natural randomization mechanism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Satisfies instrumental variable assumptions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Enables causal effect identification from observational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Validates whether causal discovery methods recover true effects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The Problem: Causal Inference in Biology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Randomized experiments are often infeasible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Cannot randomly assign mutations to patients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Observational data has confounding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Hypoxia affects both gene expression AND cell behavior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Ground truth is rarely known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No way to validate causal effect estimates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CAUSANTA solves this with embedded ground truth + natural randomization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Scientific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Extrachromosomal DNA (ecDNA) Biology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Circular DNA molecules found in ~30% of cancers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Lack centromeres - cannot attach to spindle fibers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Segregate randomly during mitosis: Binomial(N, 0.5)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Carry oncogenes (EGFR, MYC, etc.)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Create tumor heterogeneity through random inheritance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This randomness is the foundation for our IV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The Confounding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In tumor tissue, hypoxia (low O2) creates confounding: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Hypoxic cells upregulate EGFR expression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Hypoxic cells also proliferate faster (HIF pathway)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Naive regression conflates: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Direct EGFR → Proliferation effect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Confounded path through O2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Need instrumental variable to isolate causal effect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Somatic Instrumental Variable (SIV)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ecDNA as Instrumental Variable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ecDNA copy number (Z) instruments for EGFR expression (D)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Three IV assumptions satisfied: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Relevance: ecDNA carries EGFR → gene dosage effect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Independence: Binomial(N, 0.5) segregation is random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Exclusion: ecDNA affects phenotypes via gene expression only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This enables Two-Stage Least Squares (2SLS) estimation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Causal 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The causal structure embedded in CAUSANTA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         ecDNA (Instrument Z)</a:t>
            </a:r>
            <a:br/>
            <a:r>
              <a:t>              |</a:t>
            </a:r>
            <a:br/>
            <a:r>
              <a:t>              v</a:t>
            </a:r>
            <a:br/>
            <a:r>
              <a:t>         EGFR expression (Treatment D)  &lt;--  O2 (Confounder U)</a:t>
            </a:r>
            <a:br/>
            <a:r>
              <a:t>              |                               |</a:t>
            </a:r>
            <a:br/>
            <a:r>
              <a:t>              v                               v</a:t>
            </a:r>
            <a:br/>
            <a:r>
              <a:t>         Proliferation (Outcome Y)  &lt;---------+</a:t>
            </a:r>
            <a:br/>
            <a:br/>
            <a:br/>
            <a:r>
              <a:t>    Stage 1: EGFR_i = pi_0 + pi_1 * ecDNA_i + noise</a:t>
            </a:r>
            <a:br/>
            <a:r>
              <a:t>    Stage 2: Prolif_i = beta_0 + beta_1 * EGFR_hat_i + error</a:t>
            </a:r>
            <a:br/>
            <a:br/>
            <a:r>
              <a:t>    beta_1 = causal effect (purged of confounding)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IV Assumptions &amp; Satisfaction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How ecDNA Satisfies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 affects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Gene dosage: more ecDNA → more EGFR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Independence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 ⊥ U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Binomial segregation is random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Z→Y only via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ecDNA affects phenotypes through expression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Three Main Subsystems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7733"/>
                </a:solidFill>
              </a:defRPr>
            </a:pPr>
            <a:r>
              <a:t>SIMULATE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Agent-based tumor growth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ecDNA dynamics &amp; segregation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Environment PDEs (O2, glucose, VEGF)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Immune system modeling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6-phase simulation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7733"/>
                </a:solidFill>
              </a:defRPr>
            </a:pPr>
            <a:r>
              <a:t>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IV/2SLS estimation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Bootstrap confidence intervals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Power analysis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Heterogeneity by region/hypoxia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Sensitivity analysis (E-value, Rosenbaum)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Simulation Loop (6 Phases)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1: Environment Diffusion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Solve reaction-diffusion PDEs via implicit LOD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2: Cell Behaviors (random order)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Division with ecDNA segregation, migration, death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3: Angiogenesis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VEGF-driven vessel sprouting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4: Immune Recruitment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T-cell recruitment based on tumor burden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5: Cleanup - Remove dead cells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Phase 6: Output - Write cell states, environment, lineage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Cell Agent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Cell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Migration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ecDNA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(36h)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μm/hr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Primary subject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Neuron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Normal tissue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Astrocyte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Slow (100h)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μm/hr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Glial support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Microglia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 μm/hr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Resident immune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Endothelial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μm/hr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Blood vessels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Recruited Immune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 μm/hr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T-cells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Necrotic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Dead cells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Cell State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Identity: cell_id, parent_id, cell_type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Spatial: x, y (integer μm), angle, shape_path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Proliferation: cell_cycle_phase (G0/G1/S/G2/M), cycle_clock_hr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Genomic: ecDNA_count, ecDNA_cargo (gene list)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Environment: O2_local, glucose_local, is_hypoxic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Lineage: generation, time_born_hr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Effective rates: migration_rate, VEGF_secretion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Environment Field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Reaction-Diffusion PDEs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General form: ∂E/∂t = D∇²E - λE + sources - sinks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Primary fields: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O2 (mmHg): D = 6×10⁶ μm²/hr, supplied by vessels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Glucose (mM): D = 2.4×10⁶ μm²/hr, metabolic fuel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VEGF (nM): D = 3.6×10⁴ μm²/hr, angiogenesis trigger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Lactate (mM): Warburg effect, pH proxy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Solved via implicit LOD (Thomas algorithm)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Unconditionally stable - no CFL constraint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Environment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Diffusion (μm²/hr)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 Value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mmHg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6.0 × 10⁶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Proliferation, necrosis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Glucose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2.4 × 10⁶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Metabolic fuel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VEGF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3.6 × 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Angiogenesis trigger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Lactate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9.0 × 10⁵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 proxy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ecDNA Segregation (The SIV Mechanism)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ecDNA Segregation During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The core mechanism enabling causal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    # During cell division (M phase completion):</a:t>
            </a:r>
            <a:br/>
            <a:br/>
            <a:r>
              <a:t>    parent_ecDNA = N  # Current copy number</a:t>
            </a:r>
            <a:br/>
            <a:br/>
            <a:r>
              <a:t>    # Binomial segregation - THE KEY MECHANISM</a:t>
            </a:r>
            <a:br/>
            <a:r>
              <a:t>    daughter_ecDNA = Binomial(N, p=0.5)</a:t>
            </a:r>
            <a:br/>
            <a:r>
              <a:t>    parent_ecDNA_after = N - daughter_ecDNA</a:t>
            </a:r>
            <a:br/>
            <a:br/>
            <a:r>
              <a:t>    # This creates random variation INDEPENDENT of environment</a:t>
            </a:r>
            <a:br/>
            <a:r>
              <a:t>    # Sisters in same microenvironment have different ecDNA</a:t>
            </a:r>
            <a:br/>
            <a:r>
              <a:t>    # This mimics randomization within strata</a:t>
            </a:r>
            <a:b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ecDNA Modulation of Cell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Ground-truth causal effects embedded in simulation: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Division: T_eff = T_base / (1 + α·log₂(1 + ecDNA))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α = 0.30: 30% faster division per ecDNA doubling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VEGF: S_eff = S_base × (1 + β·ecDNA)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β = 0.10: 10% more VEGF per ecDNA copy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Migration: v_eff = v_base × (1 + δ·ecDNA)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δ = 0.05: 5% faster migration per ecDNA copy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Survival: a_eff = a_base / (1 + γ·ecDNA)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γ = 0.20: 20% survival boost per ecDNA copy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Causal Analysis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Two-Stage Least Squares (2SLS)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Stage 1 (First Stage): Predict treatment from instrument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EGFR_i = π₀ + π₁·ecDNA_i + η_i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Get predicted values: EGFR_hat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Stage 2 (Second Stage): Regress outcome on prediction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Y_i = β₀ + β₁·EGFR_hat_i + ε_i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β₁ is the causal effect, purged of confounding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Compare IV vs OLS to quantify confounding bias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IV Diagnostics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Diagnostic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Instrument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10 (strong)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Wu-Hausman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Endogeneity detection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 &lt; 0.05 → use IV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Anderson-Rubin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Weak-IV robust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Valid with weak instruments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Rosenbaum bounds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Sensitivity to confounding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Report Γ*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Min confounding to explain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2.0 (robust)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Additional Analysis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BCa Bootstrap Confidence Intervals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Bias-corrected and accelerated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Handles skewness in IV estimates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Power Analysis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Required sample size for target power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Minimum detectable effect (MDE)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Heterogeneity Analysis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Stratified IV by region (core/margin/infiltrating)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Stratified by hypoxia (normoxic/mild/severe)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Cochran's Q test, I² statistic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Validation &amp; Success Criteria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Success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077B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IV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15%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|β̂_IV - β_true| / β_true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CI Coverage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Fraction containing true value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≥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At effect size 0.05, n=1000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Segregation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 &gt; 0.05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KS test vs Binomial(N, 0.5)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First-stage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Staiger &amp; Stock rule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E-value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2.0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Robustness to confounding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Biological Validation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Avascular spheroid zonation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Proliferating rim, quiescent zone, necrotic core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Oxygen gradient: hypoxia at ~100-150 μm from vessels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Pseudopalisading necrosis (GBM pathognomonic)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ecDNA heterogeneity dynamics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Variance = N × p × (1-p) per generation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Angiogenic switch at ~1-2 mm tumor mass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Gompertzian growth curve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Causal recoverability above chance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Repository Structure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Module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7733"/>
                </a:solidFill>
              </a:defRPr>
            </a:pPr>
            <a:r>
              <a:t>causanta/simulate/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core.py - Main simulation loop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cells.py - Cell agents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behaviors.py - Division, migration, death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environment.py - Diffusion solver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ecdna.py - SIV mechanism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angiogenesis.py - Vessel sprouting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sweep.py - Parameter sweeps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7733"/>
                </a:solidFill>
              </a:defRPr>
            </a:pPr>
            <a:r>
              <a:t>causanta/analyze/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iv.py - 2SLS + diagnostics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effects.py - Effect estimation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bootstrap.py - BCa CIs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power.py - Power analysis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heterogeneity.py - Stratified IV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loader.py - Data loading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discovery.py - PC/GES algorithms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Output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cells_t{step}.tsv - Cell states per timestep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cell_id, parent_id, type, x, y, ecDNA_count, O2_local,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environment_t{step}.tsv - Field values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x_grid, y_grid, O2, glucose, VEGF, lactate, pH,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lineage.tsv - Division events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time_hr, parent_id, parent_ecDNA_before/after, daughter_ecDNA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params.json - Frozen parameter copy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summary.log - Per-step statistics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Quick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Running Simulations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    # Install</a:t>
            </a:r>
            <a:br/>
            <a:r>
              <a:t>    pip install -e .</a:t>
            </a:r>
            <a:br/>
            <a:br/>
            <a:r>
              <a:t>    # Run default simulation (1mm x 1mm, 168 hours)</a:t>
            </a:r>
            <a:br/>
            <a:r>
              <a:t>    python -m causanta.simulate.core</a:t>
            </a:r>
            <a:br/>
            <a:br/>
            <a:r>
              <a:t>    # Custom duration</a:t>
            </a:r>
            <a:br/>
            <a:r>
              <a:t>    python -m causanta.simulate.core --hours 500</a:t>
            </a:r>
            <a:br/>
            <a:br/>
            <a:r>
              <a:t>    # Custom parameters</a:t>
            </a:r>
            <a:br/>
            <a:r>
              <a:t>    python -m causanta.simulate.core my_params.json</a:t>
            </a:r>
            <a:br/>
            <a:br/>
            <a:r>
              <a:t>    # Comprehensive analysis</a:t>
            </a:r>
            <a:br/>
            <a:r>
              <a:t>    python scripts/run_comprehensive_analysis.py output/run_*/data/</a:t>
            </a:r>
            <a:br/>
            <a:br/>
            <a:r>
              <a:t>    # Full validation study</a:t>
            </a:r>
            <a:br/>
            <a:r>
              <a:t>    python scripts/run_simulation_study.py --study full --output-dir results/</a:t>
            </a:r>
            <a:b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Generating Figures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    from causanta.visualize import (</a:t>
            </a:r>
            <a:br/>
            <a:r>
              <a:t>        apply_nature_style,</a:t>
            </a:r>
            <a:br/>
            <a:r>
              <a:t>        create_main_figure_1,  # Conceptual framework (DAG)</a:t>
            </a:r>
            <a:br/>
            <a:r>
              <a:t>        create_main_figure_2,  # Instrument validation</a:t>
            </a:r>
            <a:br/>
            <a:r>
              <a:t>        create_main_figure_3,  # Causal estimation (IV vs OLS)</a:t>
            </a:r>
            <a:br/>
            <a:r>
              <a:t>        create_main_figure_4,  # Power analysis</a:t>
            </a:r>
            <a:br/>
            <a:r>
              <a:t>        create_main_figure_5,  # Heterogeneity</a:t>
            </a:r>
            <a:br/>
            <a:r>
              <a:t>        create_main_figure_6,  # Robustness (sensitivity)</a:t>
            </a:r>
            <a:br/>
            <a:r>
              <a:t>    )</a:t>
            </a:r>
            <a:br/>
            <a:br/>
            <a:r>
              <a:t>    apply_nature_style()</a:t>
            </a:r>
            <a:br/>
            <a:r>
              <a:t>    create_main_figure_1(output_dir="figures/")</a:t>
            </a:r>
            <a:b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docs/theory.md - Complete theoretical framework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14 sections: domain, cells, environment, behaviors, SIV,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docs/manuscript/manuscript.md - Full publication paper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docs/supplementary_materials.md - Statistical methods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docs/tutorial.md - Step-by-step causal inference guide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docs/analysis_guide.md - Methods and interpretation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docs/immune_system.md - Immune interaction modeling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README.md - Collaborator onboarding document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7BB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CAUSANTA enables causal inference benchmarking with ground truth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ecDNA segregation provides natural randomization (SIV)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6-phase simulation generates realistic tumor tissue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2SLS/IV analysis recovers causal effects despite confounding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Comprehensive diagnostics validate instrument strength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Full documentation for collaborator onboarding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Publication-ready figures with Nature Methods styling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7BB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docs/theory.md | docs/manuscript/manuscript.md |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